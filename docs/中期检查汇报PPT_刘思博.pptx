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ABEE2-6A20-19B1-F9F6-38507DB9D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1A723A-2654-B361-21C8-7DE49CE7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C01B7B-2C8D-66C7-074F-80BC665F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13AD0-34DB-7EE2-4356-5706B6FA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93F78-3555-9853-F19D-F18D8DA9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73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F8F10-06C4-9377-CDD7-799F12B46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8A586-C60C-EAE5-A9FB-E91AAF967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C43F55-50CB-B7C6-2823-F27AFDC6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C00BC-09F8-5AF1-483C-E2260F82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148A81-0FD9-2A6D-B11D-FBFEE8DA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65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F83C1-05C4-19E2-EA69-014C17140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C6590F-4EA5-607C-A3EE-6A416E6AA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13B3EB-580D-6A29-43DA-284D12C5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12002-52D0-751A-E143-2CCD592A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8EE5A-1832-C7F4-94A2-17D6DB7A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010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678D2-9C50-DA7C-0BD8-608999F6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F28A76-5324-E3B4-F6DC-A8DDC084D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8C1B21-7057-E09F-F7C6-176B26FC7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44C571-A054-210A-EDD6-AE3CC96B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E2F2A-B48B-37EE-D05E-066294DB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03FABF-1C43-5610-425B-F45EE9B0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71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8E4DF-0CBD-88E2-A9C0-81B6215A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B729AE-DAB2-0B72-50CA-3AADB88DC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1C9744-A184-F415-0202-D5E96E5F9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D7ABE3-9D9D-7BCC-3C1C-790236185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17320-1054-4AE4-1652-7220584E8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A42FC8-2A86-8077-83A8-459D7330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F5B258-9D34-57AB-B0DC-A363FABD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7DD308-AD31-9CA4-5DD7-81169820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47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55F90-6F88-73E9-7B6B-17614CDE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281446-4393-518E-EDA3-01E3C997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667BB4-728E-DAF6-9DED-4199BEF5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E42ADA-E4D2-A776-900C-FC967178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755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B82F29-D553-C520-B98B-E2E2CB55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36E892-6CDA-9383-1CF2-0B587336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D8A47D-C626-42D3-1408-A8FE3690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70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678EC-95B7-3622-1921-62381B21A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25E579-5715-FEBA-C616-5738B1544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FE83AC-987F-5740-21D3-BDF4AC68F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AD95F8-A181-B438-DB55-D02E0280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BD55E5-AF3E-AA7A-2CED-02140E1D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B46D45-EBD6-F113-8AE0-C9937DF4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18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6D903-7E25-679E-5CBD-FB58B6CD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B6F697-FB41-39D6-E40A-E6E83D80A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4FA80D-2B8E-17DF-5D1B-962CBF24E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9731FE-55F3-4916-4916-C02EED64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3469D3-96E6-FD75-3551-42EEB54A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B588D3-AA3B-C281-0EAD-BB78DA3E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45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E19FC-1BAE-51DC-BDA6-2F03487F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461B68-2AB4-C7B8-F72B-83AB70B16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4BD072-0918-5416-4AA0-12485CEE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2087FF-512F-0D55-52F7-BB26C7C9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D55043-1D19-9EC5-0A65-57076B15E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88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4E41E8-A7AB-3F33-E1D9-C05BF77F1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1B3B7C-2AAB-382E-2D86-AA4DFF329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105129-976E-243D-1838-80D789A3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3CEC5A-DC97-FFCB-8A66-E9275498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7F7AC-EC0E-C60A-0819-112E618F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55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053706-64EB-2702-8BAF-2CFCFC9E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3379D5-0886-153E-F35C-765F61B5C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5BD01B-F016-AB0B-4FE8-3DDA2D98E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D944C-3649-4A99-B390-1B902D934BA3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FFD51C-853C-D8A1-453C-44432AF32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7E7BF8-CB2F-8CAF-F20D-C23A094E0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70C8B-AAF8-4AE2-BC9A-0860A42DE7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44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98EF5C-7FF5-951A-C3BC-D4FEA1794F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8AC663-37E0-EB2D-62CF-E78F7B35E6B8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EFC9EE-CB6E-EE99-81A0-68B4295B8F46}"/>
              </a:ext>
            </a:extLst>
          </p:cNvPr>
          <p:cNvSpPr/>
          <p:nvPr/>
        </p:nvSpPr>
        <p:spPr>
          <a:xfrm>
            <a:off x="177800" y="0"/>
            <a:ext cx="152400" cy="68580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962F16E-F44D-76DF-FB81-DA4BAECA8F6C}"/>
              </a:ext>
            </a:extLst>
          </p:cNvPr>
          <p:cNvSpPr/>
          <p:nvPr/>
        </p:nvSpPr>
        <p:spPr>
          <a:xfrm>
            <a:off x="7899400" y="787400"/>
            <a:ext cx="3479800" cy="472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8B1D54-BCE3-7F5F-FFF3-B181C85DEB53}"/>
              </a:ext>
            </a:extLst>
          </p:cNvPr>
          <p:cNvSpPr/>
          <p:nvPr/>
        </p:nvSpPr>
        <p:spPr>
          <a:xfrm>
            <a:off x="8255000" y="1066800"/>
            <a:ext cx="2768600" cy="1524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2047AC-C20E-B7A4-1817-588930145AE1}"/>
              </a:ext>
            </a:extLst>
          </p:cNvPr>
          <p:cNvSpPr/>
          <p:nvPr/>
        </p:nvSpPr>
        <p:spPr>
          <a:xfrm>
            <a:off x="8255000" y="1346200"/>
            <a:ext cx="2006600" cy="1524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F58E14-F9B2-3443-ADFC-F654F4C41E26}"/>
              </a:ext>
            </a:extLst>
          </p:cNvPr>
          <p:cNvSpPr/>
          <p:nvPr/>
        </p:nvSpPr>
        <p:spPr>
          <a:xfrm>
            <a:off x="8255000" y="1625600"/>
            <a:ext cx="2413000" cy="152400"/>
          </a:xfrm>
          <a:prstGeom prst="rect">
            <a:avLst/>
          </a:prstGeom>
          <a:solidFill>
            <a:srgbClr val="E1AA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05DD6C2-8A5B-7CD0-9E47-E9CAA902B20D}"/>
              </a:ext>
            </a:extLst>
          </p:cNvPr>
          <p:cNvSpPr/>
          <p:nvPr/>
        </p:nvSpPr>
        <p:spPr>
          <a:xfrm>
            <a:off x="8255000" y="2133600"/>
            <a:ext cx="1206500" cy="990600"/>
          </a:xfrm>
          <a:prstGeom prst="roundRect">
            <a:avLst/>
          </a:prstGeom>
          <a:solidFill>
            <a:srgbClr val="E9F1FB"/>
          </a:solidFill>
          <a:ln w="1524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95BEE70-6425-5998-07DB-60D947C76FFA}"/>
              </a:ext>
            </a:extLst>
          </p:cNvPr>
          <p:cNvSpPr/>
          <p:nvPr/>
        </p:nvSpPr>
        <p:spPr>
          <a:xfrm>
            <a:off x="9652000" y="2133600"/>
            <a:ext cx="1371600" cy="990600"/>
          </a:xfrm>
          <a:prstGeom prst="roundRect">
            <a:avLst/>
          </a:prstGeom>
          <a:solidFill>
            <a:srgbClr val="E8F7F5"/>
          </a:solidFill>
          <a:ln w="1524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8E7CF41-758E-35F4-72FC-D0F6071A585B}"/>
              </a:ext>
            </a:extLst>
          </p:cNvPr>
          <p:cNvSpPr/>
          <p:nvPr/>
        </p:nvSpPr>
        <p:spPr>
          <a:xfrm>
            <a:off x="8255000" y="3302000"/>
            <a:ext cx="2768600" cy="165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B96D24-9F31-DF0A-84A1-64D89BE0B7A8}"/>
              </a:ext>
            </a:extLst>
          </p:cNvPr>
          <p:cNvSpPr txBox="1"/>
          <p:nvPr/>
        </p:nvSpPr>
        <p:spPr>
          <a:xfrm>
            <a:off x="8610600" y="2387600"/>
            <a:ext cx="50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1C3A60"/>
                </a:solidFill>
                <a:latin typeface="Microsoft YaHei" panose="020B0503020204020204" pitchFamily="34" charset="-122"/>
              </a:rPr>
              <a:t>UI</a:t>
            </a:r>
            <a:endParaRPr lang="zh-CN" altLang="en-US" sz="16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152DEC-1B0C-9688-DA49-B0A5ADE58781}"/>
              </a:ext>
            </a:extLst>
          </p:cNvPr>
          <p:cNvSpPr txBox="1"/>
          <p:nvPr/>
        </p:nvSpPr>
        <p:spPr>
          <a:xfrm>
            <a:off x="9906000" y="2387600"/>
            <a:ext cx="889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1C3A60"/>
                </a:solidFill>
                <a:latin typeface="Microsoft YaHei" panose="020B0503020204020204" pitchFamily="34" charset="-122"/>
              </a:rPr>
              <a:t>API</a:t>
            </a:r>
            <a:endParaRPr lang="zh-CN" altLang="en-US" sz="16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F1770D-7C21-744D-14F4-211CAC56AC63}"/>
              </a:ext>
            </a:extLst>
          </p:cNvPr>
          <p:cNvSpPr txBox="1"/>
          <p:nvPr/>
        </p:nvSpPr>
        <p:spPr>
          <a:xfrm>
            <a:off x="8597900" y="3733800"/>
            <a:ext cx="20955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700" b="1">
                <a:solidFill>
                  <a:srgbClr val="28384C"/>
                </a:solidFill>
                <a:latin typeface="Microsoft YaHei" panose="020B0503020204020204" pitchFamily="34" charset="-122"/>
              </a:rPr>
              <a:t>房源浏览 </a:t>
            </a:r>
            <a:r>
              <a:rPr lang="en-US" altLang="zh-CN" sz="1700" b="1">
                <a:solidFill>
                  <a:srgbClr val="28384C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700" b="1">
                <a:solidFill>
                  <a:srgbClr val="28384C"/>
                </a:solidFill>
                <a:latin typeface="Microsoft YaHei" panose="020B0503020204020204" pitchFamily="34" charset="-122"/>
              </a:rPr>
              <a:t>预约 </a:t>
            </a:r>
            <a:r>
              <a:rPr lang="en-US" altLang="zh-CN" sz="1700" b="1">
                <a:solidFill>
                  <a:srgbClr val="28384C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700" b="1">
                <a:solidFill>
                  <a:srgbClr val="28384C"/>
                </a:solidFill>
                <a:latin typeface="Microsoft YaHei" panose="020B0503020204020204" pitchFamily="34" charset="-122"/>
              </a:rPr>
              <a:t>咨询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159204-0EF6-D5F6-6D34-0B23AED09544}"/>
              </a:ext>
            </a:extLst>
          </p:cNvPr>
          <p:cNvSpPr txBox="1"/>
          <p:nvPr/>
        </p:nvSpPr>
        <p:spPr>
          <a:xfrm>
            <a:off x="8597900" y="4114800"/>
            <a:ext cx="20955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前后端分离、多角色协同、可视化展示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BC5015-839A-D951-9CD2-67A05035F892}"/>
              </a:ext>
            </a:extLst>
          </p:cNvPr>
          <p:cNvSpPr txBox="1"/>
          <p:nvPr/>
        </p:nvSpPr>
        <p:spPr>
          <a:xfrm>
            <a:off x="762000" y="1168400"/>
            <a:ext cx="6096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C3A60"/>
                </a:solidFill>
                <a:latin typeface="Microsoft YaHei" panose="020B0503020204020204" pitchFamily="34" charset="-122"/>
              </a:rPr>
              <a:t>基于 </a:t>
            </a:r>
            <a:r>
              <a:rPr lang="en-US" altLang="zh-CN" sz="2800" b="1">
                <a:solidFill>
                  <a:srgbClr val="1C3A60"/>
                </a:solidFill>
                <a:latin typeface="Microsoft YaHei" panose="020B0503020204020204" pitchFamily="34" charset="-122"/>
              </a:rPr>
              <a:t>Spring Boot </a:t>
            </a:r>
            <a:r>
              <a:rPr lang="zh-CN" altLang="en-US" sz="2800" b="1">
                <a:solidFill>
                  <a:srgbClr val="1C3A60"/>
                </a:solidFill>
                <a:latin typeface="Microsoft YaHei" panose="020B0503020204020204" pitchFamily="34" charset="-122"/>
              </a:rPr>
              <a:t>的房屋交易平台设计与实现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755E88-5DBC-7074-42B9-AEE6CA1845E5}"/>
              </a:ext>
            </a:extLst>
          </p:cNvPr>
          <p:cNvSpPr txBox="1"/>
          <p:nvPr/>
        </p:nvSpPr>
        <p:spPr>
          <a:xfrm>
            <a:off x="787400" y="2616200"/>
            <a:ext cx="482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600" b="1">
                <a:solidFill>
                  <a:srgbClr val="34A6A4"/>
                </a:solidFill>
                <a:latin typeface="Microsoft YaHei" panose="020B0503020204020204" pitchFamily="34" charset="-122"/>
              </a:rPr>
              <a:t>毕业设计中期检查汇报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AC51A1F-A03B-3D86-9A32-F79A28EB3A8F}"/>
              </a:ext>
            </a:extLst>
          </p:cNvPr>
          <p:cNvSpPr txBox="1"/>
          <p:nvPr/>
        </p:nvSpPr>
        <p:spPr>
          <a:xfrm>
            <a:off x="787400" y="32766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28384C"/>
                </a:solidFill>
                <a:latin typeface="Microsoft YaHei" panose="020B0503020204020204" pitchFamily="34" charset="-122"/>
              </a:rPr>
              <a:t>刘思博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8E60B84-EE55-9177-0FC2-0D5400DFCAB1}"/>
              </a:ext>
            </a:extLst>
          </p:cNvPr>
          <p:cNvSpPr txBox="1"/>
          <p:nvPr/>
        </p:nvSpPr>
        <p:spPr>
          <a:xfrm>
            <a:off x="787400" y="3708400"/>
            <a:ext cx="533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>
                <a:solidFill>
                  <a:srgbClr val="5C6E82"/>
                </a:solidFill>
                <a:latin typeface="Microsoft YaHei" panose="020B0503020204020204" pitchFamily="34" charset="-122"/>
              </a:rPr>
              <a:t>数据科学与大数据技术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58F450-62E4-F2C9-48D1-AFC2871609CE}"/>
              </a:ext>
            </a:extLst>
          </p:cNvPr>
          <p:cNvSpPr txBox="1"/>
          <p:nvPr/>
        </p:nvSpPr>
        <p:spPr>
          <a:xfrm>
            <a:off x="787400" y="4089400"/>
            <a:ext cx="5334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500">
                <a:solidFill>
                  <a:srgbClr val="5C6E82"/>
                </a:solidFill>
                <a:latin typeface="Microsoft YaHei" panose="020B0503020204020204" pitchFamily="34" charset="-122"/>
              </a:rPr>
              <a:t>指导教师：阳锋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A0582B3-80C3-6322-77FF-D352269914F6}"/>
              </a:ext>
            </a:extLst>
          </p:cNvPr>
          <p:cNvSpPr/>
          <p:nvPr/>
        </p:nvSpPr>
        <p:spPr>
          <a:xfrm>
            <a:off x="787400" y="4648200"/>
            <a:ext cx="1524000" cy="508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10AD12-69D4-CD66-E666-1C52F9A28708}"/>
              </a:ext>
            </a:extLst>
          </p:cNvPr>
          <p:cNvSpPr txBox="1"/>
          <p:nvPr/>
        </p:nvSpPr>
        <p:spPr>
          <a:xfrm>
            <a:off x="787400" y="4978400"/>
            <a:ext cx="533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>
                <a:solidFill>
                  <a:srgbClr val="28384C"/>
                </a:solidFill>
                <a:latin typeface="Microsoft YaHei" panose="020B0503020204020204" pitchFamily="34" charset="-122"/>
              </a:rPr>
              <a:t>围绕用户端、经纪人端、管理员端构建完整房屋交易业务链路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A9693A-1CF2-61D1-F074-7168525CD0B4}"/>
              </a:ext>
            </a:extLst>
          </p:cNvPr>
          <p:cNvSpPr txBox="1"/>
          <p:nvPr/>
        </p:nvSpPr>
        <p:spPr>
          <a:xfrm>
            <a:off x="8255000" y="5207000"/>
            <a:ext cx="203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1100">
                <a:solidFill>
                  <a:srgbClr val="5C6E82"/>
                </a:solidFill>
                <a:latin typeface="Microsoft YaHei" panose="020B0503020204020204" pitchFamily="34" charset="-122"/>
              </a:rPr>
              <a:t>Platform Overview</a:t>
            </a:r>
            <a:endParaRPr lang="zh-CN" altLang="en-US" sz="1100">
              <a:solidFill>
                <a:srgbClr val="5C6E82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724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9D6610-D0B9-28F1-57B2-445776E2A2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61A9E-066F-5674-8AD7-555EB35D890F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9EF486-28EB-4EA0-2F54-CB6A873D0D29}"/>
              </a:ext>
            </a:extLst>
          </p:cNvPr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Microsoft YaHei" panose="020B0503020204020204" pitchFamily="34" charset="-122"/>
              </a:rPr>
              <a:t>PROJECT CONTEXT</a:t>
            </a:r>
            <a:endParaRPr lang="zh-CN" altLang="en-US" sz="1100" b="1">
              <a:solidFill>
                <a:srgbClr val="5C779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32C5D2-D63D-3D58-66AC-5F0919013C3A}"/>
              </a:ext>
            </a:extLst>
          </p:cNvPr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课题背景与研究目标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382812-1F7E-CD26-96BC-690E6B48D1CD}"/>
              </a:ext>
            </a:extLst>
          </p:cNvPr>
          <p:cNvSpPr/>
          <p:nvPr/>
        </p:nvSpPr>
        <p:spPr>
          <a:xfrm>
            <a:off x="609600" y="1498600"/>
            <a:ext cx="50165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2D13197-9FFE-854F-2F91-4AC9108BF1AA}"/>
              </a:ext>
            </a:extLst>
          </p:cNvPr>
          <p:cNvSpPr/>
          <p:nvPr/>
        </p:nvSpPr>
        <p:spPr>
          <a:xfrm>
            <a:off x="5969000" y="1498600"/>
            <a:ext cx="5613400" cy="406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534723-5E5B-EE55-C063-2DA5B2B4089D}"/>
              </a:ext>
            </a:extLst>
          </p:cNvPr>
          <p:cNvSpPr txBox="1"/>
          <p:nvPr/>
        </p:nvSpPr>
        <p:spPr>
          <a:xfrm>
            <a:off x="914400" y="1752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现实痛点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84AF3A-BE1E-7E93-051E-63E2ACF6EEA0}"/>
              </a:ext>
            </a:extLst>
          </p:cNvPr>
          <p:cNvSpPr txBox="1"/>
          <p:nvPr/>
        </p:nvSpPr>
        <p:spPr>
          <a:xfrm>
            <a:off x="914400" y="2260600"/>
            <a:ext cx="4191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房源信息分散，用户跨平台比对成本高</a:t>
            </a:r>
          </a:p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预约、咨询、售后流程缺少统一协同入口</a:t>
            </a:r>
          </a:p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传统系统展示能力弱，难体现地图与 </a:t>
            </a:r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看房优势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9B38E2-7A26-81B4-5481-D2368716DE70}"/>
              </a:ext>
            </a:extLst>
          </p:cNvPr>
          <p:cNvSpPr txBox="1"/>
          <p:nvPr/>
        </p:nvSpPr>
        <p:spPr>
          <a:xfrm>
            <a:off x="6273800" y="1752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研究目标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FCDF57-B6F3-F48B-EBAF-A455356E52AD}"/>
              </a:ext>
            </a:extLst>
          </p:cNvPr>
          <p:cNvSpPr txBox="1"/>
          <p:nvPr/>
        </p:nvSpPr>
        <p:spPr>
          <a:xfrm>
            <a:off x="6273800" y="2260600"/>
            <a:ext cx="4699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构建支持普通用户、经纪人、管理员的多角色平台</a:t>
            </a:r>
          </a:p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打通房源发布、检索、预约、咨询、工单与管理流程</a:t>
            </a:r>
          </a:p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在基础交易之外增强地图找房、推荐、</a:t>
            </a:r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看房等展示效果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9F4EFA-E4D7-6672-0068-46E21A12F90E}"/>
              </a:ext>
            </a:extLst>
          </p:cNvPr>
          <p:cNvSpPr txBox="1"/>
          <p:nvPr/>
        </p:nvSpPr>
        <p:spPr>
          <a:xfrm>
            <a:off x="1066800" y="49530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C6E82"/>
                </a:solidFill>
                <a:latin typeface="Microsoft YaHei" panose="020B0503020204020204" pitchFamily="34" charset="-122"/>
              </a:rPr>
              <a:t>问题导向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3FA4AE-E5FA-BA14-9FCE-29B15344A9DC}"/>
              </a:ext>
            </a:extLst>
          </p:cNvPr>
          <p:cNvSpPr txBox="1"/>
          <p:nvPr/>
        </p:nvSpPr>
        <p:spPr>
          <a:xfrm>
            <a:off x="6426200" y="49530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100">
                <a:solidFill>
                  <a:srgbClr val="5C6E82"/>
                </a:solidFill>
                <a:latin typeface="Microsoft YaHei" panose="020B0503020204020204" pitchFamily="34" charset="-122"/>
              </a:rPr>
              <a:t>目标导向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157C622-87DB-A57A-421C-9FC73FC777F6}"/>
              </a:ext>
            </a:extLst>
          </p:cNvPr>
          <p:cNvSpPr/>
          <p:nvPr/>
        </p:nvSpPr>
        <p:spPr>
          <a:xfrm>
            <a:off x="3530600" y="57912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信息整合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383E9A4-6C53-A141-C7CC-B935E03A8F2B}"/>
              </a:ext>
            </a:extLst>
          </p:cNvPr>
          <p:cNvSpPr/>
          <p:nvPr/>
        </p:nvSpPr>
        <p:spPr>
          <a:xfrm>
            <a:off x="5207000" y="57912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流程协同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8947348-8CE3-9F59-C508-7972FAE7591A}"/>
              </a:ext>
            </a:extLst>
          </p:cNvPr>
          <p:cNvSpPr/>
          <p:nvPr/>
        </p:nvSpPr>
        <p:spPr>
          <a:xfrm>
            <a:off x="6883400" y="5791200"/>
            <a:ext cx="1397000" cy="3810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体验提升</a:t>
            </a:r>
          </a:p>
        </p:txBody>
      </p:sp>
    </p:spTree>
    <p:extLst>
      <p:ext uri="{BB962C8B-B14F-4D97-AF65-F5344CB8AC3E}">
        <p14:creationId xmlns:p14="http://schemas.microsoft.com/office/powerpoint/2010/main" val="173866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F45EF6-4021-3E92-441B-DA18A941A8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8B6375-F509-355D-29B1-06BE3B4AB949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1076BF-3E82-FEA6-E874-379F54764D89}"/>
              </a:ext>
            </a:extLst>
          </p:cNvPr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Microsoft YaHei" panose="020B0503020204020204" pitchFamily="34" charset="-122"/>
              </a:rPr>
              <a:t>ARCHITECTURE</a:t>
            </a:r>
            <a:endParaRPr lang="zh-CN" altLang="en-US" sz="1100" b="1">
              <a:solidFill>
                <a:srgbClr val="5C779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7F3E8B-4EC1-96C1-F5A1-E473715F1FFD}"/>
              </a:ext>
            </a:extLst>
          </p:cNvPr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技术路线与系统架构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A9EE768-97C9-BA08-7271-AA7384F26859}"/>
              </a:ext>
            </a:extLst>
          </p:cNvPr>
          <p:cNvSpPr/>
          <p:nvPr/>
        </p:nvSpPr>
        <p:spPr>
          <a:xfrm>
            <a:off x="609600" y="1524000"/>
            <a:ext cx="31750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20ED11-1D61-4C3C-A4D0-12477069DDEE}"/>
              </a:ext>
            </a:extLst>
          </p:cNvPr>
          <p:cNvSpPr txBox="1"/>
          <p:nvPr/>
        </p:nvSpPr>
        <p:spPr>
          <a:xfrm>
            <a:off x="889000" y="1778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技术栈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9003DBB-3AD5-CB27-EBD0-CF8CF85C21BD}"/>
              </a:ext>
            </a:extLst>
          </p:cNvPr>
          <p:cNvSpPr/>
          <p:nvPr/>
        </p:nvSpPr>
        <p:spPr>
          <a:xfrm>
            <a:off x="889000" y="2387600"/>
            <a:ext cx="2286000" cy="4318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Vue 3 + Vite + Element Plus</a:t>
            </a:r>
            <a:endParaRPr lang="zh-CN" altLang="en-US" sz="13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9E2600-B54C-C555-3BAF-5A9A257CACFB}"/>
              </a:ext>
            </a:extLst>
          </p:cNvPr>
          <p:cNvSpPr/>
          <p:nvPr/>
        </p:nvSpPr>
        <p:spPr>
          <a:xfrm>
            <a:off x="889000" y="2971800"/>
            <a:ext cx="2286000" cy="4318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Spring Boot + Security + JWT</a:t>
            </a:r>
            <a:endParaRPr lang="zh-CN" altLang="en-US" sz="13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0CEE8A2-13B2-1663-6303-58DCE3036707}"/>
              </a:ext>
            </a:extLst>
          </p:cNvPr>
          <p:cNvSpPr/>
          <p:nvPr/>
        </p:nvSpPr>
        <p:spPr>
          <a:xfrm>
            <a:off x="889000" y="3556000"/>
            <a:ext cx="1460500" cy="4318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JPA / Hibernate</a:t>
            </a:r>
            <a:endParaRPr lang="zh-CN" altLang="en-US" sz="13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3C98B12-06F9-59A6-CEEE-E61D4F4F4B88}"/>
              </a:ext>
            </a:extLst>
          </p:cNvPr>
          <p:cNvSpPr/>
          <p:nvPr/>
        </p:nvSpPr>
        <p:spPr>
          <a:xfrm>
            <a:off x="889000" y="4140200"/>
            <a:ext cx="1092200" cy="4318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MySQL</a:t>
            </a:r>
            <a:endParaRPr lang="zh-CN" altLang="en-US" sz="13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50DD45-B533-AA98-ABBC-1664439A2EA6}"/>
              </a:ext>
            </a:extLst>
          </p:cNvPr>
          <p:cNvSpPr/>
          <p:nvPr/>
        </p:nvSpPr>
        <p:spPr>
          <a:xfrm>
            <a:off x="889000" y="4724400"/>
            <a:ext cx="1905000" cy="4318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ECharts / Leaflet / 3D</a:t>
            </a:r>
            <a:endParaRPr lang="zh-CN" altLang="en-US" sz="13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9577AD-8299-B08B-5AC7-44C3A5030672}"/>
              </a:ext>
            </a:extLst>
          </p:cNvPr>
          <p:cNvSpPr txBox="1"/>
          <p:nvPr/>
        </p:nvSpPr>
        <p:spPr>
          <a:xfrm>
            <a:off x="889000" y="5384800"/>
            <a:ext cx="2413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5C6E82"/>
                </a:solidFill>
                <a:latin typeface="Microsoft YaHei" panose="020B0503020204020204" pitchFamily="34" charset="-122"/>
              </a:rPr>
              <a:t>前后端分离架构，便于功能扩展与后续部署。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F2D9ADC-047A-F6BA-EF8B-68BB139A6C18}"/>
              </a:ext>
            </a:extLst>
          </p:cNvPr>
          <p:cNvSpPr/>
          <p:nvPr/>
        </p:nvSpPr>
        <p:spPr>
          <a:xfrm>
            <a:off x="4165600" y="1524000"/>
            <a:ext cx="74168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5D0C9B-E66E-7C47-F815-0AB82BD15E57}"/>
              </a:ext>
            </a:extLst>
          </p:cNvPr>
          <p:cNvSpPr txBox="1"/>
          <p:nvPr/>
        </p:nvSpPr>
        <p:spPr>
          <a:xfrm>
            <a:off x="4445000" y="1778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系统架构图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31EB60E-165F-1E03-6037-F2B475E7E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00" y="2311400"/>
            <a:ext cx="6604000" cy="28956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A3E5E8E-74B5-94C5-5FB7-71E3BE93A3D2}"/>
              </a:ext>
            </a:extLst>
          </p:cNvPr>
          <p:cNvSpPr txBox="1"/>
          <p:nvPr/>
        </p:nvSpPr>
        <p:spPr>
          <a:xfrm>
            <a:off x="4521200" y="5308600"/>
            <a:ext cx="635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客户端 </a:t>
            </a:r>
            <a:r>
              <a:rPr lang="en-US" altLang="zh-CN" sz="1200">
                <a:solidFill>
                  <a:srgbClr val="5C6E82"/>
                </a:solidFill>
                <a:latin typeface="Microsoft YaHei" panose="020B0503020204020204" pitchFamily="34" charset="-122"/>
              </a:rPr>
              <a:t>-&gt; Vue3 </a:t>
            </a:r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前端 </a:t>
            </a:r>
            <a:r>
              <a:rPr lang="en-US" altLang="zh-CN" sz="1200">
                <a:solidFill>
                  <a:srgbClr val="5C6E82"/>
                </a:solidFill>
                <a:latin typeface="Microsoft YaHei" panose="020B0503020204020204" pitchFamily="34" charset="-122"/>
              </a:rPr>
              <a:t>-&gt; Spring Boot API -&gt; MySQL</a:t>
            </a:r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，安全认证与业务服务从后端统一支撑。</a:t>
            </a:r>
          </a:p>
        </p:txBody>
      </p:sp>
    </p:spTree>
    <p:extLst>
      <p:ext uri="{BB962C8B-B14F-4D97-AF65-F5344CB8AC3E}">
        <p14:creationId xmlns:p14="http://schemas.microsoft.com/office/powerpoint/2010/main" val="256941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073BCE-FFD5-FCE5-C9B3-CA33C39FD1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76E099-28E2-B8F4-BDFB-1AC65102C626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40A033-B4CB-2A89-6927-5E893DCFADC8}"/>
              </a:ext>
            </a:extLst>
          </p:cNvPr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Microsoft YaHei" panose="020B0503020204020204" pitchFamily="34" charset="-122"/>
              </a:rPr>
              <a:t>DATA MODEL</a:t>
            </a:r>
            <a:endParaRPr lang="zh-CN" altLang="en-US" sz="1100" b="1">
              <a:solidFill>
                <a:srgbClr val="5C779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773866-E0B9-3BBB-C3D3-63FBDF8177BF}"/>
              </a:ext>
            </a:extLst>
          </p:cNvPr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数据库设计（</a:t>
            </a:r>
            <a:r>
              <a:rPr lang="en-US" altLang="zh-CN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ER </a:t>
            </a:r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图）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6D52D8-B9E7-6171-3EFC-0E7AF5D4DD25}"/>
              </a:ext>
            </a:extLst>
          </p:cNvPr>
          <p:cNvSpPr/>
          <p:nvPr/>
        </p:nvSpPr>
        <p:spPr>
          <a:xfrm>
            <a:off x="609600" y="1524000"/>
            <a:ext cx="34290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4023DD-EAB7-4017-D265-1B5DE9C618B8}"/>
              </a:ext>
            </a:extLst>
          </p:cNvPr>
          <p:cNvSpPr txBox="1"/>
          <p:nvPr/>
        </p:nvSpPr>
        <p:spPr>
          <a:xfrm>
            <a:off x="889000" y="17780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核心实体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5CE596-CB30-8D63-4DFD-9057995FD582}"/>
              </a:ext>
            </a:extLst>
          </p:cNvPr>
          <p:cNvSpPr txBox="1"/>
          <p:nvPr/>
        </p:nvSpPr>
        <p:spPr>
          <a:xfrm>
            <a:off x="889000" y="2286000"/>
            <a:ext cx="2794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用户 </a:t>
            </a:r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`users`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房源 </a:t>
            </a:r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`properties`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预约 </a:t>
            </a:r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`appointments`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支付订单 </a:t>
            </a:r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`payment_orders`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消息 </a:t>
            </a:r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`messages` /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工单 </a:t>
            </a:r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`support_tickets`</a:t>
            </a:r>
            <a:endParaRPr lang="zh-CN" altLang="en-US" sz="1500">
              <a:solidFill>
                <a:srgbClr val="28384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57E967-9C4B-F9A7-5B89-7F869B450DAA}"/>
              </a:ext>
            </a:extLst>
          </p:cNvPr>
          <p:cNvSpPr txBox="1"/>
          <p:nvPr/>
        </p:nvSpPr>
        <p:spPr>
          <a:xfrm>
            <a:off x="889000" y="51816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该设计支持“浏览 </a:t>
            </a:r>
            <a:r>
              <a:rPr lang="en-US" altLang="zh-CN" sz="1200">
                <a:solidFill>
                  <a:srgbClr val="5C6E82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咨询 </a:t>
            </a:r>
            <a:r>
              <a:rPr lang="en-US" altLang="zh-CN" sz="1200">
                <a:solidFill>
                  <a:srgbClr val="5C6E82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预约 </a:t>
            </a:r>
            <a:r>
              <a:rPr lang="en-US" altLang="zh-CN" sz="1200">
                <a:solidFill>
                  <a:srgbClr val="5C6E82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支付 </a:t>
            </a:r>
            <a:r>
              <a:rPr lang="en-US" altLang="zh-CN" sz="1200">
                <a:solidFill>
                  <a:srgbClr val="5C6E82"/>
                </a:solidFill>
                <a:latin typeface="Microsoft YaHei" panose="020B0503020204020204" pitchFamily="34" charset="-122"/>
              </a:rPr>
              <a:t>- </a:t>
            </a:r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售后”完整闭环。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63592EC-3D98-D080-4474-2718909888B5}"/>
              </a:ext>
            </a:extLst>
          </p:cNvPr>
          <p:cNvSpPr/>
          <p:nvPr/>
        </p:nvSpPr>
        <p:spPr>
          <a:xfrm>
            <a:off x="4292600" y="1524000"/>
            <a:ext cx="7289800" cy="431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857577-234B-4792-8F06-2E3DD78CCC66}"/>
              </a:ext>
            </a:extLst>
          </p:cNvPr>
          <p:cNvSpPr txBox="1"/>
          <p:nvPr/>
        </p:nvSpPr>
        <p:spPr>
          <a:xfrm>
            <a:off x="4572000" y="17780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b="1">
                <a:solidFill>
                  <a:srgbClr val="1C3A60"/>
                </a:solidFill>
                <a:latin typeface="Microsoft YaHei" panose="020B0503020204020204" pitchFamily="34" charset="-122"/>
              </a:rPr>
              <a:t>ER </a:t>
            </a:r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关系图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343ABDB-62F8-E391-869F-CBAA55429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2286000"/>
            <a:ext cx="6477000" cy="2921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967FD3C-8E70-F333-4E1F-273D8C12AC78}"/>
              </a:ext>
            </a:extLst>
          </p:cNvPr>
          <p:cNvSpPr txBox="1"/>
          <p:nvPr/>
        </p:nvSpPr>
        <p:spPr>
          <a:xfrm>
            <a:off x="4572000" y="5308600"/>
            <a:ext cx="635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5C6E82"/>
                </a:solidFill>
                <a:latin typeface="Microsoft YaHei" panose="020B0503020204020204" pitchFamily="34" charset="-122"/>
              </a:rPr>
              <a:t>用户与房源、预约、消息、评价等实体形成多维关系，为推荐、统计和流程管理提供数据基础。</a:t>
            </a:r>
          </a:p>
        </p:txBody>
      </p:sp>
    </p:spTree>
    <p:extLst>
      <p:ext uri="{BB962C8B-B14F-4D97-AF65-F5344CB8AC3E}">
        <p14:creationId xmlns:p14="http://schemas.microsoft.com/office/powerpoint/2010/main" val="224406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7B198A-8CAB-061C-1E53-C1D2A93371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14C1AE-BA5F-FC54-8CEA-86819BE072A2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B2B391-8131-770D-3A1B-1DBCA1B32FE7}"/>
              </a:ext>
            </a:extLst>
          </p:cNvPr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Microsoft YaHei" panose="020B0503020204020204" pitchFamily="34" charset="-122"/>
              </a:rPr>
              <a:t>FEATURE MODULES</a:t>
            </a:r>
            <a:endParaRPr lang="zh-CN" altLang="en-US" sz="1100" b="1">
              <a:solidFill>
                <a:srgbClr val="5C779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C85505-4A8F-7973-23B3-7EDE9FF07FAE}"/>
              </a:ext>
            </a:extLst>
          </p:cNvPr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系统功能模块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AC400CA-F888-AC95-236A-CF42E45844FC}"/>
              </a:ext>
            </a:extLst>
          </p:cNvPr>
          <p:cNvSpPr/>
          <p:nvPr/>
        </p:nvSpPr>
        <p:spPr>
          <a:xfrm>
            <a:off x="609600" y="1752600"/>
            <a:ext cx="3429000" cy="1397000"/>
          </a:xfrm>
          <a:prstGeom prst="roundRect">
            <a:avLst>
              <a:gd name="adj" fmla="val 18000"/>
            </a:avLst>
          </a:prstGeom>
          <a:solidFill>
            <a:srgbClr val="E9F1FB"/>
          </a:solidFill>
          <a:ln w="1778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3493EB-79AF-0FE9-63C1-092E4349441D}"/>
              </a:ext>
            </a:extLst>
          </p:cNvPr>
          <p:cNvSpPr txBox="1"/>
          <p:nvPr/>
        </p:nvSpPr>
        <p:spPr>
          <a:xfrm>
            <a:off x="838200" y="19304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用户端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64A531-834C-3ADF-3907-132C9F31856B}"/>
              </a:ext>
            </a:extLst>
          </p:cNvPr>
          <p:cNvSpPr txBox="1"/>
          <p:nvPr/>
        </p:nvSpPr>
        <p:spPr>
          <a:xfrm>
            <a:off x="838200" y="2362200"/>
            <a:ext cx="304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注册登录、个人中心、收藏对比、找房需求、预约进度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317296-C447-203B-3D94-6A2974756582}"/>
              </a:ext>
            </a:extLst>
          </p:cNvPr>
          <p:cNvSpPr/>
          <p:nvPr/>
        </p:nvSpPr>
        <p:spPr>
          <a:xfrm>
            <a:off x="4292600" y="1752600"/>
            <a:ext cx="3429000" cy="1397000"/>
          </a:xfrm>
          <a:prstGeom prst="roundRect">
            <a:avLst>
              <a:gd name="adj" fmla="val 18000"/>
            </a:avLst>
          </a:prstGeom>
          <a:solidFill>
            <a:srgbClr val="E8F7F5"/>
          </a:solidFill>
          <a:ln w="1778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916E90-DD4C-8701-8719-15D66EBE0FA0}"/>
              </a:ext>
            </a:extLst>
          </p:cNvPr>
          <p:cNvSpPr txBox="1"/>
          <p:nvPr/>
        </p:nvSpPr>
        <p:spPr>
          <a:xfrm>
            <a:off x="4521200" y="1930400"/>
            <a:ext cx="304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经纪人端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171F78-BADE-82A0-BCB8-3F9CE6426B9F}"/>
              </a:ext>
            </a:extLst>
          </p:cNvPr>
          <p:cNvSpPr txBox="1"/>
          <p:nvPr/>
        </p:nvSpPr>
        <p:spPr>
          <a:xfrm>
            <a:off x="4521200" y="2362200"/>
            <a:ext cx="304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房源发布、编辑、预约处理、排班管理、工单处理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900CB63-804B-4F63-8EB4-0EDA40C52212}"/>
              </a:ext>
            </a:extLst>
          </p:cNvPr>
          <p:cNvSpPr/>
          <p:nvPr/>
        </p:nvSpPr>
        <p:spPr>
          <a:xfrm>
            <a:off x="7975600" y="1752600"/>
            <a:ext cx="3606800" cy="1397000"/>
          </a:xfrm>
          <a:prstGeom prst="roundRect">
            <a:avLst>
              <a:gd name="adj" fmla="val 18000"/>
            </a:avLst>
          </a:prstGeom>
          <a:solidFill>
            <a:srgbClr val="F9F1E5"/>
          </a:solidFill>
          <a:ln w="1778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7A9FDE-B199-1D36-AF90-0D8E4C882DCA}"/>
              </a:ext>
            </a:extLst>
          </p:cNvPr>
          <p:cNvSpPr txBox="1"/>
          <p:nvPr/>
        </p:nvSpPr>
        <p:spPr>
          <a:xfrm>
            <a:off x="8204200" y="1930400"/>
            <a:ext cx="32258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管理员后台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1D2F56-8925-10F4-7D27-E4182495EC81}"/>
              </a:ext>
            </a:extLst>
          </p:cNvPr>
          <p:cNvSpPr txBox="1"/>
          <p:nvPr/>
        </p:nvSpPr>
        <p:spPr>
          <a:xfrm>
            <a:off x="8204200" y="2362200"/>
            <a:ext cx="3225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统计总览、房源审核、用户治理、评论管理、消息中心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1C8E50-E7C8-B61D-B441-092EEB2B3D77}"/>
              </a:ext>
            </a:extLst>
          </p:cNvPr>
          <p:cNvSpPr/>
          <p:nvPr/>
        </p:nvSpPr>
        <p:spPr>
          <a:xfrm>
            <a:off x="609600" y="3429000"/>
            <a:ext cx="5207000" cy="1625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56A7EC-C9F2-2F3E-8F24-934063F3CBB7}"/>
              </a:ext>
            </a:extLst>
          </p:cNvPr>
          <p:cNvSpPr txBox="1"/>
          <p:nvPr/>
        </p:nvSpPr>
        <p:spPr>
          <a:xfrm>
            <a:off x="838200" y="3606800"/>
            <a:ext cx="482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交易与服务链路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B1D0A1-60E9-E6C5-E65D-12262C9C4A22}"/>
              </a:ext>
            </a:extLst>
          </p:cNvPr>
          <p:cNvSpPr txBox="1"/>
          <p:nvPr/>
        </p:nvSpPr>
        <p:spPr>
          <a:xfrm>
            <a:off x="838200" y="4038600"/>
            <a:ext cx="482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房源检索、详情浏览、在线咨询、预约看房、意向金支付、售后工单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AACE92A-A847-52AC-B89B-8CD046055EDB}"/>
              </a:ext>
            </a:extLst>
          </p:cNvPr>
          <p:cNvSpPr/>
          <p:nvPr/>
        </p:nvSpPr>
        <p:spPr>
          <a:xfrm>
            <a:off x="6096000" y="3429000"/>
            <a:ext cx="5486400" cy="1625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66BC83-B464-0051-E339-5460E297B788}"/>
              </a:ext>
            </a:extLst>
          </p:cNvPr>
          <p:cNvSpPr txBox="1"/>
          <p:nvPr/>
        </p:nvSpPr>
        <p:spPr>
          <a:xfrm>
            <a:off x="6324600" y="3606800"/>
            <a:ext cx="51054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扩展亮点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AA98E8-EAF2-8C11-F626-B3BC6E5D0B91}"/>
              </a:ext>
            </a:extLst>
          </p:cNvPr>
          <p:cNvSpPr txBox="1"/>
          <p:nvPr/>
        </p:nvSpPr>
        <p:spPr>
          <a:xfrm>
            <a:off x="6324600" y="4038600"/>
            <a:ext cx="51054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地图找房、个性化推荐、</a:t>
            </a:r>
            <a:r>
              <a:rPr lang="en-US" altLang="zh-CN" sz="1300">
                <a:solidFill>
                  <a:srgbClr val="28384C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看房、软装工作室、统计分析与模型训练支撑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0E6CED2-BC73-E40A-E47D-B9E10A948ED1}"/>
              </a:ext>
            </a:extLst>
          </p:cNvPr>
          <p:cNvCxnSpPr/>
          <p:nvPr/>
        </p:nvCxnSpPr>
        <p:spPr>
          <a:xfrm>
            <a:off x="5816600" y="4241800"/>
            <a:ext cx="279400" cy="0"/>
          </a:xfrm>
          <a:prstGeom prst="line">
            <a:avLst/>
          </a:prstGeom>
          <a:ln w="19050">
            <a:solidFill>
              <a:srgbClr val="5C6E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908041B-0009-C542-AF28-1BF2C1562C39}"/>
              </a:ext>
            </a:extLst>
          </p:cNvPr>
          <p:cNvSpPr txBox="1"/>
          <p:nvPr/>
        </p:nvSpPr>
        <p:spPr>
          <a:xfrm>
            <a:off x="9652000" y="5334000"/>
            <a:ext cx="1524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100">
                <a:solidFill>
                  <a:srgbClr val="5C6E82"/>
                </a:solidFill>
                <a:latin typeface="Microsoft YaHei" panose="020B0503020204020204" pitchFamily="34" charset="-122"/>
              </a:rPr>
              <a:t>多角色协同 </a:t>
            </a:r>
            <a:r>
              <a:rPr lang="en-US" altLang="zh-CN" sz="1100">
                <a:solidFill>
                  <a:srgbClr val="5C6E82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00">
                <a:solidFill>
                  <a:srgbClr val="5C6E82"/>
                </a:solidFill>
                <a:latin typeface="Microsoft YaHei" panose="020B0503020204020204" pitchFamily="34" charset="-122"/>
              </a:rPr>
              <a:t>可视化展示</a:t>
            </a:r>
          </a:p>
        </p:txBody>
      </p:sp>
    </p:spTree>
    <p:extLst>
      <p:ext uri="{BB962C8B-B14F-4D97-AF65-F5344CB8AC3E}">
        <p14:creationId xmlns:p14="http://schemas.microsoft.com/office/powerpoint/2010/main" val="171643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056760-060E-B07E-D6DA-40B9234823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C6868B-B119-2914-01DE-3061B3B225DE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579779-9EEB-C8B6-8E2B-2B680EE8F2C1}"/>
              </a:ext>
            </a:extLst>
          </p:cNvPr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Microsoft YaHei" panose="020B0503020204020204" pitchFamily="34" charset="-122"/>
              </a:rPr>
              <a:t>PROJECT STATUS</a:t>
            </a:r>
            <a:endParaRPr lang="zh-CN" altLang="en-US" sz="1100" b="1">
              <a:solidFill>
                <a:srgbClr val="5C779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E84209-1F7D-3C8B-6F2F-031ADC621F3A}"/>
              </a:ext>
            </a:extLst>
          </p:cNvPr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当前已完成的主要工作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EE8C1BD-8986-3969-C911-64E540960861}"/>
              </a:ext>
            </a:extLst>
          </p:cNvPr>
          <p:cNvSpPr/>
          <p:nvPr/>
        </p:nvSpPr>
        <p:spPr>
          <a:xfrm>
            <a:off x="609600" y="1600200"/>
            <a:ext cx="10972800" cy="1066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39871C-7844-D273-A311-FB1C6DB3EB31}"/>
              </a:ext>
            </a:extLst>
          </p:cNvPr>
          <p:cNvSpPr txBox="1"/>
          <p:nvPr/>
        </p:nvSpPr>
        <p:spPr>
          <a:xfrm>
            <a:off x="914400" y="18542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整体进度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2E00FD-7A4A-5D1B-8E08-4405B949478E}"/>
              </a:ext>
            </a:extLst>
          </p:cNvPr>
          <p:cNvSpPr/>
          <p:nvPr/>
        </p:nvSpPr>
        <p:spPr>
          <a:xfrm>
            <a:off x="2794000" y="2032000"/>
            <a:ext cx="7112000" cy="228600"/>
          </a:xfrm>
          <a:prstGeom prst="rect">
            <a:avLst/>
          </a:prstGeom>
          <a:solidFill>
            <a:srgbClr val="E3EB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037F7A-566C-00FF-60B4-D5570408EC8F}"/>
              </a:ext>
            </a:extLst>
          </p:cNvPr>
          <p:cNvSpPr/>
          <p:nvPr/>
        </p:nvSpPr>
        <p:spPr>
          <a:xfrm>
            <a:off x="2794000" y="2032000"/>
            <a:ext cx="4978400" cy="2286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04ED40-56E7-6E4F-3E8C-4BF8E17EBE2D}"/>
              </a:ext>
            </a:extLst>
          </p:cNvPr>
          <p:cNvSpPr txBox="1"/>
          <p:nvPr/>
        </p:nvSpPr>
        <p:spPr>
          <a:xfrm>
            <a:off x="10160000" y="1879600"/>
            <a:ext cx="889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70%</a:t>
            </a:r>
            <a:endParaRPr lang="zh-CN" altLang="en-US" sz="2400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F15596D-D823-7AAC-A751-AF85B1CA4118}"/>
              </a:ext>
            </a:extLst>
          </p:cNvPr>
          <p:cNvSpPr/>
          <p:nvPr/>
        </p:nvSpPr>
        <p:spPr>
          <a:xfrm>
            <a:off x="609600" y="2997200"/>
            <a:ext cx="2590800" cy="2032000"/>
          </a:xfrm>
          <a:prstGeom prst="roundRect">
            <a:avLst/>
          </a:prstGeom>
          <a:solidFill>
            <a:srgbClr val="E9F1FB"/>
          </a:solidFill>
          <a:ln w="1651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E9DFDF-19B4-2DB9-0EF1-5CEE352DFD4E}"/>
              </a:ext>
            </a:extLst>
          </p:cNvPr>
          <p:cNvSpPr txBox="1"/>
          <p:nvPr/>
        </p:nvSpPr>
        <p:spPr>
          <a:xfrm>
            <a:off x="812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需求与设计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630A4F-6861-377C-2F9F-FEA2373D554D}"/>
              </a:ext>
            </a:extLst>
          </p:cNvPr>
          <p:cNvSpPr txBox="1"/>
          <p:nvPr/>
        </p:nvSpPr>
        <p:spPr>
          <a:xfrm>
            <a:off x="812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需求分析、概要设计、数据库设计已完成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C6B3748-64D4-624D-0307-763155BD49DD}"/>
              </a:ext>
            </a:extLst>
          </p:cNvPr>
          <p:cNvSpPr/>
          <p:nvPr/>
        </p:nvSpPr>
        <p:spPr>
          <a:xfrm>
            <a:off x="3403600" y="2997200"/>
            <a:ext cx="2590800" cy="2032000"/>
          </a:xfrm>
          <a:prstGeom prst="roundRect">
            <a:avLst/>
          </a:prstGeom>
          <a:solidFill>
            <a:srgbClr val="E8F7F5"/>
          </a:solidFill>
          <a:ln w="1651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B986CF-5069-EDCC-CED6-46CE42EE2122}"/>
              </a:ext>
            </a:extLst>
          </p:cNvPr>
          <p:cNvSpPr txBox="1"/>
          <p:nvPr/>
        </p:nvSpPr>
        <p:spPr>
          <a:xfrm>
            <a:off x="3606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系统基础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7C7325-EDB1-38D9-B521-B30CD430FB4B}"/>
              </a:ext>
            </a:extLst>
          </p:cNvPr>
          <p:cNvSpPr txBox="1"/>
          <p:nvPr/>
        </p:nvSpPr>
        <p:spPr>
          <a:xfrm>
            <a:off x="3606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前后端框架、数据库初始化、登录鉴权已完成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F16CE7E-C9F3-0F03-A301-815F81AAF2E7}"/>
              </a:ext>
            </a:extLst>
          </p:cNvPr>
          <p:cNvSpPr/>
          <p:nvPr/>
        </p:nvSpPr>
        <p:spPr>
          <a:xfrm>
            <a:off x="6197600" y="2997200"/>
            <a:ext cx="2590800" cy="2032000"/>
          </a:xfrm>
          <a:prstGeom prst="roundRect">
            <a:avLst/>
          </a:prstGeom>
          <a:solidFill>
            <a:srgbClr val="F9F1E5"/>
          </a:solidFill>
          <a:ln w="1651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5FAA84-262F-0F3F-AA34-2C0399A2B6B3}"/>
              </a:ext>
            </a:extLst>
          </p:cNvPr>
          <p:cNvSpPr txBox="1"/>
          <p:nvPr/>
        </p:nvSpPr>
        <p:spPr>
          <a:xfrm>
            <a:off x="6400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核心业务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257088B-7537-9A57-064D-EF53FD95F395}"/>
              </a:ext>
            </a:extLst>
          </p:cNvPr>
          <p:cNvSpPr txBox="1"/>
          <p:nvPr/>
        </p:nvSpPr>
        <p:spPr>
          <a:xfrm>
            <a:off x="6400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房源、预约、咨询、评论、统计等流程已跑通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EA19625-90F7-B50D-4A36-F5FA512EA066}"/>
              </a:ext>
            </a:extLst>
          </p:cNvPr>
          <p:cNvSpPr/>
          <p:nvPr/>
        </p:nvSpPr>
        <p:spPr>
          <a:xfrm>
            <a:off x="8991600" y="2997200"/>
            <a:ext cx="2590800" cy="2032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4F4335-F324-304F-A9AE-05470018877D}"/>
              </a:ext>
            </a:extLst>
          </p:cNvPr>
          <p:cNvSpPr txBox="1"/>
          <p:nvPr/>
        </p:nvSpPr>
        <p:spPr>
          <a:xfrm>
            <a:off x="9194800" y="3225800"/>
            <a:ext cx="203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扩展能力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13DB047-970A-6F49-52CD-E74863AEB47A}"/>
              </a:ext>
            </a:extLst>
          </p:cNvPr>
          <p:cNvSpPr txBox="1"/>
          <p:nvPr/>
        </p:nvSpPr>
        <p:spPr>
          <a:xfrm>
            <a:off x="9194800" y="3683000"/>
            <a:ext cx="215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推荐、地图找房、</a:t>
            </a:r>
            <a:r>
              <a:rPr lang="en-US" altLang="zh-CN" sz="1300">
                <a:solidFill>
                  <a:srgbClr val="28384C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300">
                <a:solidFill>
                  <a:srgbClr val="28384C"/>
                </a:solidFill>
                <a:latin typeface="Microsoft YaHei" panose="020B0503020204020204" pitchFamily="34" charset="-122"/>
              </a:rPr>
              <a:t>看房、软装工作室已接入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3E7ED6-A07B-53F3-435B-4163EFCBFE19}"/>
              </a:ext>
            </a:extLst>
          </p:cNvPr>
          <p:cNvSpPr txBox="1"/>
          <p:nvPr/>
        </p:nvSpPr>
        <p:spPr>
          <a:xfrm>
            <a:off x="609600" y="5384800"/>
            <a:ext cx="5207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5C6E82"/>
                </a:solidFill>
                <a:latin typeface="Microsoft YaHei" panose="020B0503020204020204" pitchFamily="34" charset="-122"/>
              </a:rPr>
              <a:t>阶段判断：平台已具备可登录、可演示、可扩展的中期成果形态。</a:t>
            </a:r>
          </a:p>
        </p:txBody>
      </p:sp>
    </p:spTree>
    <p:extLst>
      <p:ext uri="{BB962C8B-B14F-4D97-AF65-F5344CB8AC3E}">
        <p14:creationId xmlns:p14="http://schemas.microsoft.com/office/powerpoint/2010/main" val="231348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8F24F6-A5F1-10A7-22E9-C10BA1D04F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DF31C4-4C5B-8A90-3406-75764C71462E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DFB893-8E57-421F-660F-4B0BB2649361}"/>
              </a:ext>
            </a:extLst>
          </p:cNvPr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Microsoft YaHei" panose="020B0503020204020204" pitchFamily="34" charset="-122"/>
              </a:rPr>
              <a:t>SHOWCASE</a:t>
            </a:r>
            <a:endParaRPr lang="zh-CN" altLang="en-US" sz="1100" b="1">
              <a:solidFill>
                <a:srgbClr val="5C779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262A32-5488-BB5D-99D7-E3EA2EEACE90}"/>
              </a:ext>
            </a:extLst>
          </p:cNvPr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重点功能展示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7EEE778-58BE-C304-28B8-679568BC0332}"/>
              </a:ext>
            </a:extLst>
          </p:cNvPr>
          <p:cNvSpPr/>
          <p:nvPr/>
        </p:nvSpPr>
        <p:spPr>
          <a:xfrm>
            <a:off x="609600" y="1574800"/>
            <a:ext cx="5359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744D52-0EFD-5BA4-CE81-5E2C8B4C8EED}"/>
              </a:ext>
            </a:extLst>
          </p:cNvPr>
          <p:cNvSpPr txBox="1"/>
          <p:nvPr/>
        </p:nvSpPr>
        <p:spPr>
          <a:xfrm>
            <a:off x="889000" y="182880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关键演示链路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44CE3B-5FE2-940D-9BD5-D6C0EC306746}"/>
              </a:ext>
            </a:extLst>
          </p:cNvPr>
          <p:cNvSpPr txBox="1"/>
          <p:nvPr/>
        </p:nvSpPr>
        <p:spPr>
          <a:xfrm>
            <a:off x="889000" y="2336800"/>
            <a:ext cx="4572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房源列表与多条件筛选</a:t>
            </a:r>
          </a:p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房源详情中的收藏 </a:t>
            </a:r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对比 </a:t>
            </a:r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预约 </a:t>
            </a:r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咨询</a:t>
            </a:r>
          </a:p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管理员后台统计与房源审核</a:t>
            </a:r>
          </a:p>
          <a:p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地图找房与 </a:t>
            </a:r>
            <a:r>
              <a:rPr lang="en-US" altLang="zh-CN" sz="1600">
                <a:solidFill>
                  <a:srgbClr val="28384C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600">
                <a:solidFill>
                  <a:srgbClr val="28384C"/>
                </a:solidFill>
                <a:latin typeface="Microsoft YaHei" panose="020B0503020204020204" pitchFamily="34" charset="-122"/>
              </a:rPr>
              <a:t>看房展示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82FC71B-54BA-7F1B-DC6E-94A4E0EAECD8}"/>
              </a:ext>
            </a:extLst>
          </p:cNvPr>
          <p:cNvSpPr txBox="1"/>
          <p:nvPr/>
        </p:nvSpPr>
        <p:spPr>
          <a:xfrm>
            <a:off x="889000" y="4572000"/>
            <a:ext cx="4191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5C6E82"/>
                </a:solidFill>
                <a:latin typeface="Microsoft YaHei" panose="020B0503020204020204" pitchFamily="34" charset="-122"/>
              </a:rPr>
              <a:t>答辩建议按“用户端 </a:t>
            </a:r>
            <a:r>
              <a:rPr lang="en-US" altLang="zh-CN" sz="1300">
                <a:solidFill>
                  <a:srgbClr val="5C6E8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300">
                <a:solidFill>
                  <a:srgbClr val="5C6E82"/>
                </a:solidFill>
                <a:latin typeface="Microsoft YaHei" panose="020B0503020204020204" pitchFamily="34" charset="-122"/>
              </a:rPr>
              <a:t>后台端”顺序演示，逻辑更顺。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EC2EB62-1D27-7A26-7CD0-B0C083A3CCB2}"/>
              </a:ext>
            </a:extLst>
          </p:cNvPr>
          <p:cNvSpPr/>
          <p:nvPr/>
        </p:nvSpPr>
        <p:spPr>
          <a:xfrm>
            <a:off x="6350000" y="1574800"/>
            <a:ext cx="5232400" cy="1930400"/>
          </a:xfrm>
          <a:prstGeom prst="roundRect">
            <a:avLst/>
          </a:prstGeom>
          <a:solidFill>
            <a:srgbClr val="E9F1FB"/>
          </a:solidFill>
          <a:ln w="1651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8D86A0-3603-693E-5928-B5FEBC2E543A}"/>
              </a:ext>
            </a:extLst>
          </p:cNvPr>
          <p:cNvSpPr txBox="1"/>
          <p:nvPr/>
        </p:nvSpPr>
        <p:spPr>
          <a:xfrm>
            <a:off x="6654800" y="1803400"/>
            <a:ext cx="1524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700" b="1">
                <a:solidFill>
                  <a:srgbClr val="1C3A60"/>
                </a:solidFill>
                <a:latin typeface="Microsoft YaHei" panose="020B0503020204020204" pitchFamily="34" charset="-122"/>
              </a:rPr>
              <a:t>类图补充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7FE6D96-D2C4-BD2C-F804-C7251D25C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828800"/>
            <a:ext cx="2870200" cy="14986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3FA9F62-3B3D-6BC2-BEFE-093469640BF1}"/>
              </a:ext>
            </a:extLst>
          </p:cNvPr>
          <p:cNvSpPr/>
          <p:nvPr/>
        </p:nvSpPr>
        <p:spPr>
          <a:xfrm>
            <a:off x="6350000" y="3759200"/>
            <a:ext cx="5232400" cy="1930400"/>
          </a:xfrm>
          <a:prstGeom prst="roundRect">
            <a:avLst/>
          </a:prstGeom>
          <a:solidFill>
            <a:srgbClr val="E8F7F5"/>
          </a:solidFill>
          <a:ln w="1651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D79C60-8D93-8A1E-46FE-9201A5461C03}"/>
              </a:ext>
            </a:extLst>
          </p:cNvPr>
          <p:cNvSpPr txBox="1"/>
          <p:nvPr/>
        </p:nvSpPr>
        <p:spPr>
          <a:xfrm>
            <a:off x="6654800" y="3987800"/>
            <a:ext cx="1778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700" b="1">
                <a:solidFill>
                  <a:srgbClr val="1C3A60"/>
                </a:solidFill>
                <a:latin typeface="Microsoft YaHei" panose="020B0503020204020204" pitchFamily="34" charset="-122"/>
              </a:rPr>
              <a:t>预约活动流程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82698B7-FD26-75A2-43C8-5444EFC6B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800" y="4013200"/>
            <a:ext cx="29718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4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A65035-7CD1-5035-2E24-52CB22FFC6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C5618B-ACB8-400E-4162-87761CDB8675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4A6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07524E-8A15-E8BB-7F7D-3AA06E3E27E8}"/>
              </a:ext>
            </a:extLst>
          </p:cNvPr>
          <p:cNvSpPr txBox="1"/>
          <p:nvPr/>
        </p:nvSpPr>
        <p:spPr>
          <a:xfrm>
            <a:off x="609600" y="431800"/>
            <a:ext cx="2794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00" b="1">
                <a:solidFill>
                  <a:srgbClr val="5C7791"/>
                </a:solidFill>
                <a:latin typeface="Microsoft YaHei" panose="020B0503020204020204" pitchFamily="34" charset="-122"/>
              </a:rPr>
              <a:t>RISKS &amp; PLAN</a:t>
            </a:r>
            <a:endParaRPr lang="zh-CN" altLang="en-US" sz="1100" b="1">
              <a:solidFill>
                <a:srgbClr val="5C779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EFB5BA-0F3A-0637-C0A7-F089B0514289}"/>
              </a:ext>
            </a:extLst>
          </p:cNvPr>
          <p:cNvSpPr txBox="1"/>
          <p:nvPr/>
        </p:nvSpPr>
        <p:spPr>
          <a:xfrm>
            <a:off x="609600" y="736600"/>
            <a:ext cx="533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>
                <a:solidFill>
                  <a:srgbClr val="1C3A60"/>
                </a:solidFill>
                <a:latin typeface="Microsoft YaHei" panose="020B0503020204020204" pitchFamily="34" charset="-122"/>
              </a:rPr>
              <a:t>目前存在的问题与下一步计划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7F3E5FF-5978-2C8C-A3AB-483779EE757C}"/>
              </a:ext>
            </a:extLst>
          </p:cNvPr>
          <p:cNvSpPr/>
          <p:nvPr/>
        </p:nvSpPr>
        <p:spPr>
          <a:xfrm>
            <a:off x="609600" y="1600200"/>
            <a:ext cx="5181600" cy="416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A20CA46-2B46-CFE3-70B0-E63B9BE2E0D4}"/>
              </a:ext>
            </a:extLst>
          </p:cNvPr>
          <p:cNvSpPr/>
          <p:nvPr/>
        </p:nvSpPr>
        <p:spPr>
          <a:xfrm>
            <a:off x="6172200" y="1600200"/>
            <a:ext cx="5410200" cy="4165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3B2DBF-C185-5B66-98A4-CA6B9EF264FE}"/>
              </a:ext>
            </a:extLst>
          </p:cNvPr>
          <p:cNvSpPr txBox="1"/>
          <p:nvPr/>
        </p:nvSpPr>
        <p:spPr>
          <a:xfrm>
            <a:off x="889000" y="18542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当前问题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76103D-6883-4C8E-F446-A191CD961E92}"/>
              </a:ext>
            </a:extLst>
          </p:cNvPr>
          <p:cNvSpPr txBox="1"/>
          <p:nvPr/>
        </p:nvSpPr>
        <p:spPr>
          <a:xfrm>
            <a:off x="889000" y="2362200"/>
            <a:ext cx="4318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支付链路和部分推荐逻辑仍偏演示性质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前后端联调、异常提示和边界处理还需优化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测试覆盖、论文图表和运行截图仍需继续整理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C0DFEF-F8AB-7E8F-3B9F-6B253FE9D927}"/>
              </a:ext>
            </a:extLst>
          </p:cNvPr>
          <p:cNvSpPr txBox="1"/>
          <p:nvPr/>
        </p:nvSpPr>
        <p:spPr>
          <a:xfrm>
            <a:off x="6451600" y="18542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b="1">
                <a:solidFill>
                  <a:srgbClr val="1C3A60"/>
                </a:solidFill>
                <a:latin typeface="Microsoft YaHei" panose="020B0503020204020204" pitchFamily="34" charset="-122"/>
              </a:rPr>
              <a:t>下一步计划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C845E1-E243-25CE-A9F6-B9ED48B36365}"/>
              </a:ext>
            </a:extLst>
          </p:cNvPr>
          <p:cNvSpPr txBox="1"/>
          <p:nvPr/>
        </p:nvSpPr>
        <p:spPr>
          <a:xfrm>
            <a:off x="6451600" y="2362200"/>
            <a:ext cx="4572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完善系统测试与异常处理，提升稳定性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优化推荐、支付展示与页面细节</a:t>
            </a:r>
          </a:p>
          <a:p>
            <a:r>
              <a:rPr lang="en-US" altLang="zh-CN" sz="1500">
                <a:solidFill>
                  <a:srgbClr val="28384C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8384C"/>
                </a:solidFill>
                <a:latin typeface="Microsoft YaHei" panose="020B0503020204020204" pitchFamily="34" charset="-122"/>
              </a:rPr>
              <a:t>补齐论文图表、系统截图和答辩材料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05B08D7-EBE4-D413-AE6E-C880F3F298E0}"/>
              </a:ext>
            </a:extLst>
          </p:cNvPr>
          <p:cNvSpPr/>
          <p:nvPr/>
        </p:nvSpPr>
        <p:spPr>
          <a:xfrm>
            <a:off x="6451600" y="4927600"/>
            <a:ext cx="1168400" cy="3810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测试强化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99D0A81-BAF4-0436-5900-F585EF444CD4}"/>
              </a:ext>
            </a:extLst>
          </p:cNvPr>
          <p:cNvSpPr/>
          <p:nvPr/>
        </p:nvSpPr>
        <p:spPr>
          <a:xfrm>
            <a:off x="7823200" y="4927600"/>
            <a:ext cx="1168400" cy="3810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细节优化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D79B4EB-F52A-0A8D-8043-6BFA73401D9C}"/>
              </a:ext>
            </a:extLst>
          </p:cNvPr>
          <p:cNvSpPr/>
          <p:nvPr/>
        </p:nvSpPr>
        <p:spPr>
          <a:xfrm>
            <a:off x="9194800" y="4927600"/>
            <a:ext cx="1473200" cy="3810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论文整理</a:t>
            </a:r>
          </a:p>
        </p:txBody>
      </p:sp>
    </p:spTree>
    <p:extLst>
      <p:ext uri="{BB962C8B-B14F-4D97-AF65-F5344CB8AC3E}">
        <p14:creationId xmlns:p14="http://schemas.microsoft.com/office/powerpoint/2010/main" val="190949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B7AE6A8-CD02-3F93-8D54-F164D27D63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F70D90-0674-B54B-76BA-7BC5BAF1FFC7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4276C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C8F0318-BC1E-0323-594B-90DB7E129CFF}"/>
              </a:ext>
            </a:extLst>
          </p:cNvPr>
          <p:cNvSpPr/>
          <p:nvPr/>
        </p:nvSpPr>
        <p:spPr>
          <a:xfrm>
            <a:off x="1016000" y="1244600"/>
            <a:ext cx="10160000" cy="381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4CB250-FF8F-8983-6B56-DE2794F10787}"/>
              </a:ext>
            </a:extLst>
          </p:cNvPr>
          <p:cNvSpPr txBox="1"/>
          <p:nvPr/>
        </p:nvSpPr>
        <p:spPr>
          <a:xfrm>
            <a:off x="0" y="1879600"/>
            <a:ext cx="1219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2800" b="1">
                <a:solidFill>
                  <a:srgbClr val="1C3A60"/>
                </a:solidFill>
                <a:latin typeface="Microsoft YaHei" panose="020B0503020204020204" pitchFamily="34" charset="-122"/>
              </a:rPr>
              <a:t>汇报完毕，感谢各位老师指导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68EF94-7DC0-C7AA-05D9-5E2AAB06E677}"/>
              </a:ext>
            </a:extLst>
          </p:cNvPr>
          <p:cNvSpPr txBox="1"/>
          <p:nvPr/>
        </p:nvSpPr>
        <p:spPr>
          <a:xfrm>
            <a:off x="0" y="2641600"/>
            <a:ext cx="1219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1600">
                <a:solidFill>
                  <a:srgbClr val="5C6E82"/>
                </a:solidFill>
                <a:latin typeface="Microsoft YaHei" panose="020B0503020204020204" pitchFamily="34" charset="-122"/>
              </a:rPr>
              <a:t>答辩时可重点演示：房源检索 </a:t>
            </a:r>
            <a:r>
              <a:rPr lang="en-US" altLang="zh-CN" sz="1600">
                <a:solidFill>
                  <a:srgbClr val="5C6E8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600">
                <a:solidFill>
                  <a:srgbClr val="5C6E82"/>
                </a:solidFill>
                <a:latin typeface="Microsoft YaHei" panose="020B0503020204020204" pitchFamily="34" charset="-122"/>
              </a:rPr>
              <a:t>详情预约 </a:t>
            </a:r>
            <a:r>
              <a:rPr lang="en-US" altLang="zh-CN" sz="1600">
                <a:solidFill>
                  <a:srgbClr val="5C6E8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600">
                <a:solidFill>
                  <a:srgbClr val="5C6E82"/>
                </a:solidFill>
                <a:latin typeface="Microsoft YaHei" panose="020B0503020204020204" pitchFamily="34" charset="-122"/>
              </a:rPr>
              <a:t>后台审核 </a:t>
            </a:r>
            <a:r>
              <a:rPr lang="en-US" altLang="zh-CN" sz="1600">
                <a:solidFill>
                  <a:srgbClr val="5C6E82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600">
                <a:solidFill>
                  <a:srgbClr val="5C6E82"/>
                </a:solidFill>
                <a:latin typeface="Microsoft YaHei" panose="020B0503020204020204" pitchFamily="34" charset="-122"/>
              </a:rPr>
              <a:t>统计展示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64A2CA3-5088-58D0-A726-E8D0B1A11783}"/>
              </a:ext>
            </a:extLst>
          </p:cNvPr>
          <p:cNvSpPr/>
          <p:nvPr/>
        </p:nvSpPr>
        <p:spPr>
          <a:xfrm>
            <a:off x="3530600" y="3632200"/>
            <a:ext cx="1397000" cy="431800"/>
          </a:xfrm>
          <a:prstGeom prst="roundRect">
            <a:avLst>
              <a:gd name="adj" fmla="val 20000"/>
            </a:avLst>
          </a:prstGeom>
          <a:solidFill>
            <a:srgbClr val="E9F1FB"/>
          </a:solidFill>
          <a:ln w="12700">
            <a:solidFill>
              <a:srgbClr val="4276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用户端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4231A9C-4BAD-F497-0113-00131FA66B83}"/>
              </a:ext>
            </a:extLst>
          </p:cNvPr>
          <p:cNvSpPr/>
          <p:nvPr/>
        </p:nvSpPr>
        <p:spPr>
          <a:xfrm>
            <a:off x="5397500" y="3632200"/>
            <a:ext cx="1397000" cy="431800"/>
          </a:xfrm>
          <a:prstGeom prst="roundRect">
            <a:avLst>
              <a:gd name="adj" fmla="val 20000"/>
            </a:avLst>
          </a:prstGeom>
          <a:solidFill>
            <a:srgbClr val="E8F7F5"/>
          </a:solidFill>
          <a:ln w="12700">
            <a:solidFill>
              <a:srgbClr val="34A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经纪人端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9FC312-2356-C98E-28DD-D0E706D8A204}"/>
              </a:ext>
            </a:extLst>
          </p:cNvPr>
          <p:cNvSpPr/>
          <p:nvPr/>
        </p:nvSpPr>
        <p:spPr>
          <a:xfrm>
            <a:off x="7264400" y="3632200"/>
            <a:ext cx="1397000" cy="431800"/>
          </a:xfrm>
          <a:prstGeom prst="roundRect">
            <a:avLst>
              <a:gd name="adj" fmla="val 20000"/>
            </a:avLst>
          </a:prstGeom>
          <a:solidFill>
            <a:srgbClr val="F9F1E5"/>
          </a:solidFill>
          <a:ln w="12700">
            <a:solidFill>
              <a:srgbClr val="E1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1C3A60"/>
                </a:solidFill>
                <a:latin typeface="Microsoft YaHei" panose="020B0503020204020204" pitchFamily="34" charset="-122"/>
              </a:rPr>
              <a:t>管理员端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CC140C-07F9-8BF3-7B89-5F872B15EA21}"/>
              </a:ext>
            </a:extLst>
          </p:cNvPr>
          <p:cNvSpPr txBox="1"/>
          <p:nvPr/>
        </p:nvSpPr>
        <p:spPr>
          <a:xfrm>
            <a:off x="0" y="5689600"/>
            <a:ext cx="1219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1C3A60"/>
                </a:solidFill>
                <a:latin typeface="Microsoft YaHei" panose="020B0503020204020204" pitchFamily="34" charset="-122"/>
              </a:rPr>
              <a:t>Q &amp; A</a:t>
            </a:r>
            <a:endParaRPr lang="zh-CN" altLang="en-US" b="1">
              <a:solidFill>
                <a:srgbClr val="1C3A6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132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自定义</PresentationFormat>
  <Paragraphs>103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思博 刘</dc:creator>
  <cp:lastModifiedBy>思博 刘</cp:lastModifiedBy>
  <cp:revision>1</cp:revision>
  <dcterms:created xsi:type="dcterms:W3CDTF">2026-04-19T02:20:50Z</dcterms:created>
  <dcterms:modified xsi:type="dcterms:W3CDTF">2026-04-19T02:20:50Z</dcterms:modified>
</cp:coreProperties>
</file>