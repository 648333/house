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D944C-3649-4A99-B390-1B902D934B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70C8B-AAF8-4AE2-BC9A-0860A42DE7C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77800" y="0"/>
            <a:ext cx="152400" cy="68580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62000" y="1168400"/>
            <a:ext cx="6096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C3A60"/>
                </a:solidFill>
                <a:latin typeface="微软雅黑" panose="020B0503020204020204" pitchFamily="34" charset="-122"/>
              </a:rPr>
              <a:t>基于 </a:t>
            </a:r>
            <a:r>
              <a:rPr lang="en-US" altLang="zh-CN" sz="2800" b="1">
                <a:solidFill>
                  <a:srgbClr val="1C3A60"/>
                </a:solidFill>
                <a:latin typeface="微软雅黑" panose="020B0503020204020204" pitchFamily="34" charset="-122"/>
              </a:rPr>
              <a:t>Spring Boot </a:t>
            </a:r>
            <a:r>
              <a:rPr lang="zh-CN" altLang="en-US" sz="2800" b="1">
                <a:solidFill>
                  <a:srgbClr val="1C3A60"/>
                </a:solidFill>
                <a:latin typeface="微软雅黑" panose="020B0503020204020204" pitchFamily="34" charset="-122"/>
              </a:rPr>
              <a:t>的房屋交易平台设计与实现</a:t>
            </a:r>
            <a:endParaRPr lang="zh-CN" altLang="en-US" sz="28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87400" y="2616200"/>
            <a:ext cx="482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34A6A4"/>
                </a:solidFill>
                <a:latin typeface="微软雅黑" panose="020B0503020204020204" pitchFamily="34" charset="-122"/>
              </a:rPr>
              <a:t>毕业设计中期检查汇报</a:t>
            </a:r>
            <a:endParaRPr lang="zh-CN" altLang="en-US" sz="1600" b="1">
              <a:solidFill>
                <a:srgbClr val="34A6A4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87400" y="32766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28384C"/>
                </a:solidFill>
                <a:latin typeface="微软雅黑" panose="020B0503020204020204" pitchFamily="34" charset="-122"/>
              </a:rPr>
              <a:t>刘思博</a:t>
            </a:r>
            <a:endParaRPr lang="zh-CN" altLang="en-US" b="1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87400" y="3708400"/>
            <a:ext cx="533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>
                <a:solidFill>
                  <a:srgbClr val="5C6E82"/>
                </a:solidFill>
                <a:latin typeface="微软雅黑" panose="020B0503020204020204" pitchFamily="34" charset="-122"/>
              </a:rPr>
              <a:t>数据科学与大数据技术</a:t>
            </a:r>
            <a:endParaRPr lang="zh-CN" altLang="en-US" sz="15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87400" y="4089400"/>
            <a:ext cx="533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>
                <a:solidFill>
                  <a:srgbClr val="5C6E82"/>
                </a:solidFill>
                <a:latin typeface="微软雅黑" panose="020B0503020204020204" pitchFamily="34" charset="-122"/>
              </a:rPr>
              <a:t>指导教师：阳锋</a:t>
            </a:r>
            <a:endParaRPr lang="zh-CN" altLang="en-US" sz="15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微软雅黑" panose="020B0503020204020204" pitchFamily="34" charset="-122"/>
              </a:rPr>
              <a:t>PROJECT CONTEXT</a:t>
            </a:r>
            <a:endParaRPr lang="zh-CN" altLang="en-US" sz="1100" b="1">
              <a:solidFill>
                <a:srgbClr val="5C77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微软雅黑" panose="020B0503020204020204" pitchFamily="34" charset="-122"/>
              </a:rPr>
              <a:t>课题背景与研究目标</a:t>
            </a:r>
            <a:endParaRPr lang="zh-CN" altLang="en-US" sz="24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09600" y="1498600"/>
            <a:ext cx="50165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5969000" y="1498600"/>
            <a:ext cx="56134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4400" y="17526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现实痛点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14400" y="2260600"/>
            <a:ext cx="4191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房源信息分散，用户跨平台比对成本高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预约、咨询、售后流程缺少统一协同入口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传统系统展示能力弱，难体现地图与 </a:t>
            </a:r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3D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看房优势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73800" y="17526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研究目标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73800" y="2260600"/>
            <a:ext cx="4699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构建支持普通用户、经纪人、管理员的多角色平台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打通房源发布、检索、预约、咨询、工单与管理流程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在基础交易之外增强地图找房、推荐、</a:t>
            </a:r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3D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看房等展示效果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66800" y="49530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C6E82"/>
                </a:solidFill>
                <a:latin typeface="微软雅黑" panose="020B0503020204020204" pitchFamily="34" charset="-122"/>
              </a:rPr>
              <a:t>问题导向</a:t>
            </a:r>
            <a:endParaRPr lang="zh-CN" altLang="en-US" sz="11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26200" y="49530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C6E82"/>
                </a:solidFill>
                <a:latin typeface="微软雅黑" panose="020B0503020204020204" pitchFamily="34" charset="-122"/>
              </a:rPr>
              <a:t>目标导向</a:t>
            </a:r>
            <a:endParaRPr lang="zh-CN" altLang="en-US" sz="11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3530600" y="57912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微软雅黑" panose="020B0503020204020204" pitchFamily="34" charset="-122"/>
              </a:rPr>
              <a:t>信息整合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5207000" y="57912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微软雅黑" panose="020B0503020204020204" pitchFamily="34" charset="-122"/>
              </a:rPr>
              <a:t>流程协同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6883400" y="57912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F9F1E5"/>
          </a:solidFill>
          <a:ln w="1270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微软雅黑" panose="020B0503020204020204" pitchFamily="34" charset="-122"/>
              </a:rPr>
              <a:t>体验提升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微软雅黑" panose="020B0503020204020204" pitchFamily="34" charset="-122"/>
              </a:rPr>
              <a:t>ARCHITECTURE</a:t>
            </a:r>
            <a:endParaRPr lang="zh-CN" altLang="en-US" sz="1100" b="1">
              <a:solidFill>
                <a:srgbClr val="5C77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微软雅黑" panose="020B0503020204020204" pitchFamily="34" charset="-122"/>
              </a:rPr>
              <a:t>技术路线与系统架构</a:t>
            </a:r>
            <a:endParaRPr lang="zh-CN" altLang="en-US" sz="24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09600" y="1524000"/>
            <a:ext cx="3175000" cy="431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" y="17780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技术栈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889000" y="2387600"/>
            <a:ext cx="2286000" cy="4318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300" b="1">
                <a:solidFill>
                  <a:srgbClr val="1C3A60"/>
                </a:solidFill>
                <a:latin typeface="微软雅黑" panose="020B0503020204020204" pitchFamily="34" charset="-122"/>
              </a:rPr>
              <a:t>Vue 3 + Vite + Element Plus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89000" y="2971800"/>
            <a:ext cx="2286000" cy="4318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1C3A60"/>
                </a:solidFill>
                <a:latin typeface="微软雅黑" panose="020B0503020204020204" pitchFamily="34" charset="-122"/>
              </a:rPr>
              <a:t>Spring Boot + Security + JWT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89000" y="3556000"/>
            <a:ext cx="1460500" cy="431800"/>
          </a:xfrm>
          <a:prstGeom prst="roundRect">
            <a:avLst>
              <a:gd name="adj" fmla="val 20000"/>
            </a:avLst>
          </a:prstGeom>
          <a:solidFill>
            <a:srgbClr val="F9F1E5"/>
          </a:solidFill>
          <a:ln w="1270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1C3A60"/>
                </a:solidFill>
                <a:latin typeface="微软雅黑" panose="020B0503020204020204" pitchFamily="34" charset="-122"/>
              </a:rPr>
              <a:t>JPA / Hibernate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4140200"/>
            <a:ext cx="1092200" cy="4318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1C3A60"/>
                </a:solidFill>
                <a:latin typeface="微软雅黑" panose="020B0503020204020204" pitchFamily="34" charset="-122"/>
              </a:rPr>
              <a:t>MySQL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889000" y="4724400"/>
            <a:ext cx="1905000" cy="4318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1C3A60"/>
                </a:solidFill>
                <a:latin typeface="微软雅黑" panose="020B0503020204020204" pitchFamily="34" charset="-122"/>
              </a:rPr>
              <a:t>ECharts / Leaflet / 3D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9000" y="5384800"/>
            <a:ext cx="2413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5C6E82"/>
                </a:solidFill>
                <a:latin typeface="微软雅黑" panose="020B0503020204020204" pitchFamily="34" charset="-122"/>
              </a:rPr>
              <a:t>前后端分离架构，便于功能扩展与后续部署。</a:t>
            </a:r>
            <a:endParaRPr lang="zh-CN" altLang="en-US" sz="13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4165600" y="1524000"/>
            <a:ext cx="7416800" cy="431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445000" y="17780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系统架构图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00" y="2311400"/>
            <a:ext cx="6604000" cy="28956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521200" y="5308600"/>
            <a:ext cx="635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5C6E82"/>
                </a:solidFill>
                <a:latin typeface="微软雅黑" panose="020B0503020204020204" pitchFamily="34" charset="-122"/>
              </a:rPr>
              <a:t>客户端 </a:t>
            </a:r>
            <a:r>
              <a:rPr lang="en-US" altLang="zh-CN" sz="1200">
                <a:solidFill>
                  <a:srgbClr val="5C6E82"/>
                </a:solidFill>
                <a:latin typeface="微软雅黑" panose="020B0503020204020204" pitchFamily="34" charset="-122"/>
              </a:rPr>
              <a:t>-&gt; Vue3 </a:t>
            </a:r>
            <a:r>
              <a:rPr lang="zh-CN" altLang="en-US" sz="1200">
                <a:solidFill>
                  <a:srgbClr val="5C6E82"/>
                </a:solidFill>
                <a:latin typeface="微软雅黑" panose="020B0503020204020204" pitchFamily="34" charset="-122"/>
              </a:rPr>
              <a:t>前端 </a:t>
            </a:r>
            <a:r>
              <a:rPr lang="en-US" altLang="zh-CN" sz="1200">
                <a:solidFill>
                  <a:srgbClr val="5C6E82"/>
                </a:solidFill>
                <a:latin typeface="微软雅黑" panose="020B0503020204020204" pitchFamily="34" charset="-122"/>
              </a:rPr>
              <a:t>-&gt; Spring Boot API -&gt; MySQL</a:t>
            </a:r>
            <a:r>
              <a:rPr lang="zh-CN" altLang="en-US" sz="1200">
                <a:solidFill>
                  <a:srgbClr val="5C6E82"/>
                </a:solidFill>
                <a:latin typeface="微软雅黑" panose="020B0503020204020204" pitchFamily="34" charset="-122"/>
              </a:rPr>
              <a:t>，安全认证与业务服务从后端统一支撑。</a:t>
            </a:r>
            <a:endParaRPr lang="zh-CN" altLang="en-US" sz="12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微软雅黑" panose="020B0503020204020204" pitchFamily="34" charset="-122"/>
              </a:rPr>
              <a:t>DATA MODEL</a:t>
            </a:r>
            <a:endParaRPr lang="zh-CN" altLang="en-US" sz="1100" b="1">
              <a:solidFill>
                <a:srgbClr val="5C77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微软雅黑" panose="020B0503020204020204" pitchFamily="34" charset="-122"/>
              </a:rPr>
              <a:t>数据库设计（</a:t>
            </a:r>
            <a:r>
              <a:rPr lang="en-US" altLang="zh-CN" sz="2400" b="1">
                <a:solidFill>
                  <a:srgbClr val="1C3A60"/>
                </a:solidFill>
                <a:latin typeface="微软雅黑" panose="020B0503020204020204" pitchFamily="34" charset="-122"/>
              </a:rPr>
              <a:t>ER </a:t>
            </a:r>
            <a:r>
              <a:rPr lang="zh-CN" altLang="en-US" sz="2400" b="1">
                <a:solidFill>
                  <a:srgbClr val="1C3A60"/>
                </a:solidFill>
                <a:latin typeface="微软雅黑" panose="020B0503020204020204" pitchFamily="34" charset="-122"/>
              </a:rPr>
              <a:t>图）</a:t>
            </a:r>
            <a:endParaRPr lang="zh-CN" altLang="en-US" sz="24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09600" y="1524000"/>
            <a:ext cx="3429000" cy="431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" y="17780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核心实体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000" y="2286000"/>
            <a:ext cx="2794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用户 </a:t>
            </a:r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`users`</a:t>
            </a:r>
            <a:endParaRPr lang="en-US" altLang="zh-CN" sz="15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房源 </a:t>
            </a:r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`properties`</a:t>
            </a:r>
            <a:endParaRPr lang="en-US" altLang="zh-CN" sz="15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预约 </a:t>
            </a:r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`appointments`</a:t>
            </a:r>
            <a:endParaRPr lang="en-US" altLang="zh-CN" sz="15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支付订单 </a:t>
            </a:r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`payment_orders`</a:t>
            </a:r>
            <a:endParaRPr lang="en-US" altLang="zh-CN" sz="15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消息 </a:t>
            </a:r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`messages` /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工单 </a:t>
            </a:r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`support_tickets`</a:t>
            </a:r>
            <a:endParaRPr lang="zh-CN" altLang="en-US" sz="15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9000" y="51816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5C6E82"/>
                </a:solidFill>
                <a:latin typeface="微软雅黑" panose="020B0503020204020204" pitchFamily="34" charset="-122"/>
              </a:rPr>
              <a:t>该设计支持“浏览 </a:t>
            </a:r>
            <a:r>
              <a:rPr lang="en-US" altLang="zh-CN" sz="1200">
                <a:solidFill>
                  <a:srgbClr val="5C6E82"/>
                </a:solidFill>
                <a:latin typeface="微软雅黑" panose="020B0503020204020204" pitchFamily="34" charset="-122"/>
              </a:rPr>
              <a:t>- </a:t>
            </a:r>
            <a:r>
              <a:rPr lang="zh-CN" altLang="en-US" sz="1200">
                <a:solidFill>
                  <a:srgbClr val="5C6E82"/>
                </a:solidFill>
                <a:latin typeface="微软雅黑" panose="020B0503020204020204" pitchFamily="34" charset="-122"/>
              </a:rPr>
              <a:t>咨询 </a:t>
            </a:r>
            <a:r>
              <a:rPr lang="en-US" altLang="zh-CN" sz="1200">
                <a:solidFill>
                  <a:srgbClr val="5C6E82"/>
                </a:solidFill>
                <a:latin typeface="微软雅黑" panose="020B0503020204020204" pitchFamily="34" charset="-122"/>
              </a:rPr>
              <a:t>- </a:t>
            </a:r>
            <a:r>
              <a:rPr lang="zh-CN" altLang="en-US" sz="1200">
                <a:solidFill>
                  <a:srgbClr val="5C6E82"/>
                </a:solidFill>
                <a:latin typeface="微软雅黑" panose="020B0503020204020204" pitchFamily="34" charset="-122"/>
              </a:rPr>
              <a:t>预约 </a:t>
            </a:r>
            <a:r>
              <a:rPr lang="en-US" altLang="zh-CN" sz="1200">
                <a:solidFill>
                  <a:srgbClr val="5C6E82"/>
                </a:solidFill>
                <a:latin typeface="微软雅黑" panose="020B0503020204020204" pitchFamily="34" charset="-122"/>
              </a:rPr>
              <a:t>- </a:t>
            </a:r>
            <a:r>
              <a:rPr lang="zh-CN" altLang="en-US" sz="1200">
                <a:solidFill>
                  <a:srgbClr val="5C6E82"/>
                </a:solidFill>
                <a:latin typeface="微软雅黑" panose="020B0503020204020204" pitchFamily="34" charset="-122"/>
              </a:rPr>
              <a:t>支付 </a:t>
            </a:r>
            <a:r>
              <a:rPr lang="en-US" altLang="zh-CN" sz="1200">
                <a:solidFill>
                  <a:srgbClr val="5C6E82"/>
                </a:solidFill>
                <a:latin typeface="微软雅黑" panose="020B0503020204020204" pitchFamily="34" charset="-122"/>
              </a:rPr>
              <a:t>- </a:t>
            </a:r>
            <a:r>
              <a:rPr lang="zh-CN" altLang="en-US" sz="1200">
                <a:solidFill>
                  <a:srgbClr val="5C6E82"/>
                </a:solidFill>
                <a:latin typeface="微软雅黑" panose="020B0503020204020204" pitchFamily="34" charset="-122"/>
              </a:rPr>
              <a:t>售后”完整闭环。</a:t>
            </a:r>
            <a:endParaRPr lang="zh-CN" altLang="en-US" sz="12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292600" y="1524000"/>
            <a:ext cx="7289800" cy="431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572000" y="17780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1C3A60"/>
                </a:solidFill>
                <a:latin typeface="微软雅黑" panose="020B0503020204020204" pitchFamily="34" charset="-122"/>
              </a:rPr>
              <a:t>ER </a:t>
            </a:r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关系图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2286000"/>
            <a:ext cx="6477000" cy="2921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572000" y="5308600"/>
            <a:ext cx="635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5C6E82"/>
                </a:solidFill>
                <a:latin typeface="微软雅黑" panose="020B0503020204020204" pitchFamily="34" charset="-122"/>
              </a:rPr>
              <a:t>用户与房源、预约、消息、评价等实体形成多维关系，为推荐、统计和流程管理提供数据基础。</a:t>
            </a:r>
            <a:endParaRPr lang="zh-CN" altLang="en-US" sz="12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微软雅黑" panose="020B0503020204020204" pitchFamily="34" charset="-122"/>
              </a:rPr>
              <a:t>FEATURE MODULES</a:t>
            </a:r>
            <a:endParaRPr lang="zh-CN" altLang="en-US" sz="1100" b="1">
              <a:solidFill>
                <a:srgbClr val="5C77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微软雅黑" panose="020B0503020204020204" pitchFamily="34" charset="-122"/>
              </a:rPr>
              <a:t>系统功能模块</a:t>
            </a:r>
            <a:endParaRPr lang="zh-CN" altLang="en-US" sz="24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09600" y="1752600"/>
            <a:ext cx="3429000" cy="1397000"/>
          </a:xfrm>
          <a:prstGeom prst="roundRect">
            <a:avLst>
              <a:gd name="adj" fmla="val 18000"/>
            </a:avLst>
          </a:prstGeom>
          <a:solidFill>
            <a:srgbClr val="E9F1FB"/>
          </a:solidFill>
          <a:ln w="1778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9304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用户端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8200" y="2362200"/>
            <a:ext cx="304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注册登录、个人中心、收藏对比、找房需求、预约进度</a:t>
            </a:r>
            <a:endParaRPr lang="zh-CN" altLang="en-US" sz="13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4292600" y="1752600"/>
            <a:ext cx="3429000" cy="1397000"/>
          </a:xfrm>
          <a:prstGeom prst="roundRect">
            <a:avLst>
              <a:gd name="adj" fmla="val 18000"/>
            </a:avLst>
          </a:prstGeom>
          <a:solidFill>
            <a:srgbClr val="E8F7F5"/>
          </a:solidFill>
          <a:ln w="1778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21200" y="19304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经纪人端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21200" y="2362200"/>
            <a:ext cx="304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房源发布、编辑、预约处理、排班管理、工单处理</a:t>
            </a:r>
            <a:endParaRPr lang="zh-CN" altLang="en-US" sz="13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7975600" y="1752600"/>
            <a:ext cx="3606800" cy="1397000"/>
          </a:xfrm>
          <a:prstGeom prst="roundRect">
            <a:avLst>
              <a:gd name="adj" fmla="val 18000"/>
            </a:avLst>
          </a:prstGeom>
          <a:solidFill>
            <a:srgbClr val="F9F1E5"/>
          </a:solidFill>
          <a:ln w="1778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204200" y="19304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管理员后台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04200" y="2362200"/>
            <a:ext cx="3225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统计总览、房源审核、用户治理、评论管理、消息中心</a:t>
            </a:r>
            <a:endParaRPr lang="zh-CN" altLang="en-US" sz="13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09600" y="3429000"/>
            <a:ext cx="5207000" cy="1625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38200" y="3606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交易与服务链路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8200" y="4038600"/>
            <a:ext cx="482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房源检索、详情浏览、在线咨询、预约看房、意向金支付、售后工单</a:t>
            </a:r>
            <a:endParaRPr lang="zh-CN" altLang="en-US" sz="13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6096000" y="3429000"/>
            <a:ext cx="5486400" cy="1625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324600" y="3606800"/>
            <a:ext cx="51054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扩展亮点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24600" y="4038600"/>
            <a:ext cx="51054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地图找房、个性化推荐、</a:t>
            </a:r>
            <a:r>
              <a:rPr lang="en-US" altLang="zh-CN" sz="1300">
                <a:solidFill>
                  <a:srgbClr val="28384C"/>
                </a:solidFill>
                <a:latin typeface="微软雅黑" panose="020B0503020204020204" pitchFamily="34" charset="-122"/>
              </a:rPr>
              <a:t>3D </a:t>
            </a:r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看房、软装工作室、统计分析与模型训练支撑</a:t>
            </a:r>
            <a:endParaRPr lang="zh-CN" altLang="en-US" sz="13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5816600" y="4241800"/>
            <a:ext cx="279400" cy="0"/>
          </a:xfrm>
          <a:prstGeom prst="line">
            <a:avLst/>
          </a:prstGeom>
          <a:ln w="19050">
            <a:solidFill>
              <a:srgbClr val="5C6E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9652000" y="5334000"/>
            <a:ext cx="152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5C6E82"/>
                </a:solidFill>
                <a:latin typeface="微软雅黑" panose="020B0503020204020204" pitchFamily="34" charset="-122"/>
              </a:rPr>
              <a:t>多角色协同 </a:t>
            </a:r>
            <a:r>
              <a:rPr lang="en-US" altLang="zh-CN" sz="1100">
                <a:solidFill>
                  <a:srgbClr val="5C6E82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100">
                <a:solidFill>
                  <a:srgbClr val="5C6E82"/>
                </a:solidFill>
                <a:latin typeface="微软雅黑" panose="020B0503020204020204" pitchFamily="34" charset="-122"/>
              </a:rPr>
              <a:t>可视化展示</a:t>
            </a:r>
            <a:endParaRPr lang="zh-CN" altLang="en-US" sz="11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微软雅黑" panose="020B0503020204020204" pitchFamily="34" charset="-122"/>
              </a:rPr>
              <a:t>PROJECT STATUS</a:t>
            </a:r>
            <a:endParaRPr lang="zh-CN" altLang="en-US" sz="1100" b="1">
              <a:solidFill>
                <a:srgbClr val="5C77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微软雅黑" panose="020B0503020204020204" pitchFamily="34" charset="-122"/>
              </a:rPr>
              <a:t>当前已完成的主要工作</a:t>
            </a:r>
            <a:endParaRPr lang="zh-CN" altLang="en-US" sz="24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>
            <p:custDataLst>
              <p:tags r:id="rId1"/>
            </p:custDataLst>
          </p:nvPr>
        </p:nvSpPr>
        <p:spPr>
          <a:xfrm>
            <a:off x="609600" y="2997200"/>
            <a:ext cx="2590800" cy="2032000"/>
          </a:xfrm>
          <a:prstGeom prst="roundRect">
            <a:avLst/>
          </a:prstGeom>
          <a:solidFill>
            <a:srgbClr val="E9F1FB"/>
          </a:solidFill>
          <a:ln w="1651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812800" y="3225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需求与设计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812800" y="3683000"/>
            <a:ext cx="2159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需求分析、概要设计、数据库设计已完成</a:t>
            </a:r>
            <a:endParaRPr lang="zh-CN" altLang="en-US" sz="13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>
            <p:custDataLst>
              <p:tags r:id="rId4"/>
            </p:custDataLst>
          </p:nvPr>
        </p:nvSpPr>
        <p:spPr>
          <a:xfrm>
            <a:off x="3403600" y="2997200"/>
            <a:ext cx="2590800" cy="2032000"/>
          </a:xfrm>
          <a:prstGeom prst="roundRect">
            <a:avLst/>
          </a:prstGeom>
          <a:solidFill>
            <a:srgbClr val="E8F7F5"/>
          </a:solidFill>
          <a:ln w="1651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3606800" y="3225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系统基础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3606800" y="3683000"/>
            <a:ext cx="2159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前后端框架、数据库初始化、登录鉴权已完成</a:t>
            </a:r>
            <a:endParaRPr lang="zh-CN" altLang="en-US" sz="13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>
            <p:custDataLst>
              <p:tags r:id="rId7"/>
            </p:custDataLst>
          </p:nvPr>
        </p:nvSpPr>
        <p:spPr>
          <a:xfrm>
            <a:off x="6197600" y="2997200"/>
            <a:ext cx="2590800" cy="2032000"/>
          </a:xfrm>
          <a:prstGeom prst="roundRect">
            <a:avLst/>
          </a:prstGeom>
          <a:solidFill>
            <a:srgbClr val="F9F1E5"/>
          </a:solidFill>
          <a:ln w="1651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6400800" y="3225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核心业务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6400800" y="3683000"/>
            <a:ext cx="2159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房源、预约、咨询、评论、统计等流程已跑通</a:t>
            </a:r>
            <a:endParaRPr lang="zh-CN" altLang="en-US" sz="13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>
            <p:custDataLst>
              <p:tags r:id="rId10"/>
            </p:custDataLst>
          </p:nvPr>
        </p:nvSpPr>
        <p:spPr>
          <a:xfrm>
            <a:off x="8991600" y="2997200"/>
            <a:ext cx="2590800" cy="2032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9194800" y="3225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扩展能力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9194800" y="3683000"/>
            <a:ext cx="2159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推荐、地图找房、</a:t>
            </a:r>
            <a:r>
              <a:rPr lang="en-US" altLang="zh-CN" sz="1300">
                <a:solidFill>
                  <a:srgbClr val="28384C"/>
                </a:solidFill>
                <a:latin typeface="微软雅黑" panose="020B0503020204020204" pitchFamily="34" charset="-122"/>
              </a:rPr>
              <a:t>3D </a:t>
            </a:r>
            <a:r>
              <a:rPr lang="zh-CN" altLang="en-US" sz="1300">
                <a:solidFill>
                  <a:srgbClr val="28384C"/>
                </a:solidFill>
                <a:latin typeface="微软雅黑" panose="020B0503020204020204" pitchFamily="34" charset="-122"/>
              </a:rPr>
              <a:t>看房、软装工作室已接入</a:t>
            </a:r>
            <a:endParaRPr lang="zh-CN" altLang="en-US" sz="13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9600" y="5384800"/>
            <a:ext cx="5207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5C6E82"/>
                </a:solidFill>
                <a:latin typeface="微软雅黑" panose="020B0503020204020204" pitchFamily="34" charset="-122"/>
              </a:rPr>
              <a:t>阶段判断：平台已具备可登录、可演示、可扩展的中期成果形态。</a:t>
            </a:r>
            <a:endParaRPr lang="zh-CN" altLang="en-US" sz="13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微软雅黑" panose="020B0503020204020204" pitchFamily="34" charset="-122"/>
              </a:rPr>
              <a:t>SHOWCASE</a:t>
            </a:r>
            <a:endParaRPr lang="zh-CN" altLang="en-US" sz="1100" b="1">
              <a:solidFill>
                <a:srgbClr val="5C77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微软雅黑" panose="020B0503020204020204" pitchFamily="34" charset="-122"/>
              </a:rPr>
              <a:t>重点功能展示</a:t>
            </a:r>
            <a:endParaRPr lang="zh-CN" altLang="en-US" sz="24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09600" y="1574800"/>
            <a:ext cx="53594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000" y="18288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关键演示链路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000" y="2336800"/>
            <a:ext cx="4572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房源列表与多条件筛选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房源详情中的收藏 </a:t>
            </a:r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对比 </a:t>
            </a:r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预约 </a:t>
            </a:r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咨询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管理员后台统计与房源审核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地图找房与 </a:t>
            </a:r>
            <a:r>
              <a:rPr lang="en-US" altLang="zh-CN" sz="1600">
                <a:solidFill>
                  <a:srgbClr val="28384C"/>
                </a:solidFill>
                <a:latin typeface="微软雅黑" panose="020B0503020204020204" pitchFamily="34" charset="-122"/>
              </a:rPr>
              <a:t>3D </a:t>
            </a:r>
            <a:r>
              <a:rPr lang="zh-CN" altLang="en-US" sz="1600">
                <a:solidFill>
                  <a:srgbClr val="28384C"/>
                </a:solidFill>
                <a:latin typeface="微软雅黑" panose="020B0503020204020204" pitchFamily="34" charset="-122"/>
              </a:rPr>
              <a:t>看房展示</a:t>
            </a:r>
            <a:endParaRPr lang="zh-CN" altLang="en-US" sz="16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9000" y="4572000"/>
            <a:ext cx="4191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5C6E82"/>
                </a:solidFill>
                <a:latin typeface="微软雅黑" panose="020B0503020204020204" pitchFamily="34" charset="-122"/>
              </a:rPr>
              <a:t>答辩建议按“用户端 </a:t>
            </a:r>
            <a:r>
              <a:rPr lang="en-US" altLang="zh-CN" sz="1300">
                <a:solidFill>
                  <a:srgbClr val="5C6E82"/>
                </a:solidFill>
                <a:latin typeface="微软雅黑" panose="020B0503020204020204" pitchFamily="34" charset="-122"/>
              </a:rPr>
              <a:t>-&gt; </a:t>
            </a:r>
            <a:r>
              <a:rPr lang="zh-CN" altLang="en-US" sz="1300">
                <a:solidFill>
                  <a:srgbClr val="5C6E82"/>
                </a:solidFill>
                <a:latin typeface="微软雅黑" panose="020B0503020204020204" pitchFamily="34" charset="-122"/>
              </a:rPr>
              <a:t>后台端”顺序演示，逻辑更顺。</a:t>
            </a:r>
            <a:endParaRPr lang="zh-CN" altLang="en-US" sz="1300">
              <a:solidFill>
                <a:srgbClr val="5C6E82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350000" y="1574800"/>
            <a:ext cx="5232400" cy="1930400"/>
          </a:xfrm>
          <a:prstGeom prst="roundRect">
            <a:avLst/>
          </a:prstGeom>
          <a:solidFill>
            <a:srgbClr val="E9F1FB"/>
          </a:solidFill>
          <a:ln w="1651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654800" y="1803400"/>
            <a:ext cx="1524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700" b="1">
                <a:solidFill>
                  <a:srgbClr val="1C3A60"/>
                </a:solidFill>
                <a:latin typeface="微软雅黑" panose="020B0503020204020204" pitchFamily="34" charset="-122"/>
              </a:rPr>
              <a:t>类图补充</a:t>
            </a:r>
            <a:endParaRPr lang="zh-CN" altLang="en-US" sz="17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828800"/>
            <a:ext cx="2870200" cy="1498600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350000" y="3759200"/>
            <a:ext cx="5232400" cy="1930400"/>
          </a:xfrm>
          <a:prstGeom prst="roundRect">
            <a:avLst/>
          </a:prstGeom>
          <a:solidFill>
            <a:srgbClr val="E8F7F5"/>
          </a:solidFill>
          <a:ln w="1651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654800" y="3987800"/>
            <a:ext cx="1778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700" b="1">
                <a:solidFill>
                  <a:srgbClr val="1C3A60"/>
                </a:solidFill>
                <a:latin typeface="微软雅黑" panose="020B0503020204020204" pitchFamily="34" charset="-122"/>
              </a:rPr>
              <a:t>预约活动流程</a:t>
            </a:r>
            <a:endParaRPr lang="zh-CN" altLang="en-US" sz="17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800" y="4013200"/>
            <a:ext cx="29718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微软雅黑" panose="020B0503020204020204" pitchFamily="34" charset="-122"/>
              </a:rPr>
              <a:t>RISKS &amp; PLAN</a:t>
            </a:r>
            <a:endParaRPr lang="zh-CN" altLang="en-US" sz="1100" b="1">
              <a:solidFill>
                <a:srgbClr val="5C779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微软雅黑" panose="020B0503020204020204" pitchFamily="34" charset="-122"/>
              </a:rPr>
              <a:t>目前存在的问题与下一步计划</a:t>
            </a:r>
            <a:endParaRPr lang="zh-CN" altLang="en-US" sz="24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09600" y="1600200"/>
            <a:ext cx="5181600" cy="416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6172200" y="1600200"/>
            <a:ext cx="5410200" cy="416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9000" y="18542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当前问题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9000" y="2362200"/>
            <a:ext cx="43180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支付链路和部分推荐逻辑仍偏演示性质</a:t>
            </a:r>
            <a:endParaRPr lang="zh-CN" altLang="en-US" sz="15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前后端联调、异常提示和边界处理还需优化</a:t>
            </a:r>
            <a:endParaRPr lang="zh-CN" altLang="en-US" sz="15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测试覆盖、论文图表和运行截图仍需继续整理</a:t>
            </a:r>
            <a:endParaRPr lang="zh-CN" altLang="en-US" sz="15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51600" y="18542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微软雅黑" panose="020B0503020204020204" pitchFamily="34" charset="-122"/>
              </a:rPr>
              <a:t>下一步计划</a:t>
            </a:r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51600" y="2362200"/>
            <a:ext cx="45720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完善系统测试与异常处理，提升稳定性</a:t>
            </a:r>
            <a:endParaRPr lang="zh-CN" altLang="en-US" sz="15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优化推荐、支付展示与页面细节</a:t>
            </a:r>
            <a:endParaRPr lang="zh-CN" altLang="en-US" sz="1500">
              <a:solidFill>
                <a:srgbClr val="28384C"/>
              </a:solidFill>
              <a:latin typeface="微软雅黑" panose="020B0503020204020204" pitchFamily="34" charset="-122"/>
            </a:endParaRPr>
          </a:p>
          <a:p>
            <a:r>
              <a:rPr lang="en-US" altLang="zh-CN" sz="1500">
                <a:solidFill>
                  <a:srgbClr val="28384C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微软雅黑" panose="020B0503020204020204" pitchFamily="34" charset="-122"/>
              </a:rPr>
              <a:t>补齐论文图表、系统截图和答辩材料</a:t>
            </a:r>
            <a:endParaRPr lang="zh-CN" altLang="en-US" sz="1500">
              <a:solidFill>
                <a:srgbClr val="2838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6451600" y="4927600"/>
            <a:ext cx="1168400" cy="3810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微软雅黑" panose="020B0503020204020204" pitchFamily="34" charset="-122"/>
              </a:rPr>
              <a:t>测试强化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823200" y="4927600"/>
            <a:ext cx="1168400" cy="3810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微软雅黑" panose="020B0503020204020204" pitchFamily="34" charset="-122"/>
              </a:rPr>
              <a:t>细节优化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9194800" y="4927600"/>
            <a:ext cx="1473200" cy="381000"/>
          </a:xfrm>
          <a:prstGeom prst="roundRect">
            <a:avLst>
              <a:gd name="adj" fmla="val 20000"/>
            </a:avLst>
          </a:prstGeom>
          <a:solidFill>
            <a:srgbClr val="F9F1E5"/>
          </a:solidFill>
          <a:ln w="1270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微软雅黑" panose="020B0503020204020204" pitchFamily="34" charset="-122"/>
              </a:rPr>
              <a:t>论文整理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1016000" y="1244600"/>
            <a:ext cx="10160000" cy="381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1879600"/>
            <a:ext cx="1219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1C3A60"/>
                </a:solidFill>
                <a:latin typeface="微软雅黑" panose="020B0503020204020204" pitchFamily="34" charset="-122"/>
              </a:rPr>
              <a:t>汇报完毕，感谢各位老师指导</a:t>
            </a:r>
            <a:endParaRPr lang="zh-CN" altLang="en-US" sz="28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530600" y="3632200"/>
            <a:ext cx="1397000" cy="4318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微软雅黑" panose="020B0503020204020204" pitchFamily="34" charset="-122"/>
              </a:rPr>
              <a:t>用户端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5397500" y="3632200"/>
            <a:ext cx="1397000" cy="4318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微软雅黑" panose="020B0503020204020204" pitchFamily="34" charset="-122"/>
              </a:rPr>
              <a:t>经纪人端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264400" y="3632200"/>
            <a:ext cx="1397000" cy="431800"/>
          </a:xfrm>
          <a:prstGeom prst="roundRect">
            <a:avLst>
              <a:gd name="adj" fmla="val 20000"/>
            </a:avLst>
          </a:prstGeom>
          <a:solidFill>
            <a:srgbClr val="F9F1E5"/>
          </a:solidFill>
          <a:ln w="1270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微软雅黑" panose="020B0503020204020204" pitchFamily="34" charset="-122"/>
              </a:rPr>
              <a:t>管理员端</a:t>
            </a:r>
            <a:endParaRPr lang="zh-CN" altLang="en-US" sz="1300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59055" y="5689600"/>
            <a:ext cx="12192000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lang="zh-CN" altLang="en-US" b="1">
              <a:solidFill>
                <a:srgbClr val="1C3A6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2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3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4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5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6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7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8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9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10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11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ags/tag12.xml><?xml version="1.0" encoding="utf-8"?>
<p:tagLst xmlns:p="http://schemas.openxmlformats.org/presentationml/2006/main">
  <p:tag name="KSO_WM_DIAGRAM_VIRTUALLY_FRAME" val="{&quot;height&quot;:160,&quot;left&quot;:48,&quot;top&quot;:236,&quot;width&quot;:86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1323</Words>
  <Application>WPS 演示</Application>
  <PresentationFormat>自定义</PresentationFormat>
  <Paragraphs>171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思博 刘</dc:creator>
  <cp:lastModifiedBy>WPS_1657251603</cp:lastModifiedBy>
  <cp:revision>2</cp:revision>
  <dcterms:created xsi:type="dcterms:W3CDTF">2026-04-19T02:20:00Z</dcterms:created>
  <dcterms:modified xsi:type="dcterms:W3CDTF">2026-04-19T02:56:52Z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708FC115A1244CF78A2FE91A8DEAF9E5_12</vt:lpwstr>
  </property>
</Properties>
</file>